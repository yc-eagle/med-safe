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2b9db458a24479" /><Relationship Type="http://schemas.openxmlformats.org/officeDocument/2006/relationships/extended-properties" Target="/docProps/app.xml" Id="Rf56e06aa770f4e86" /><Relationship Type="http://schemas.openxmlformats.org/officeDocument/2006/relationships/officeDocument" Target="/ppt/presentation.xml" Id="R73f8f16ebaf84d2e" /></Relationships>
</file>

<file path=ppt/presentation.xml><?xml version="1.0" encoding="utf-8"?>
<p:presentation xmlns:p="http://schemas.openxmlformats.org/presentationml/2006/main">
  <p:sldMasterIdLst>
    <p:sldMasterId xmlns:r="http://schemas.openxmlformats.org/officeDocument/2006/relationships" id="2147483648" r:id="Rbaad29004d9045ac"/>
  </p:sldMasterIdLst>
  <p:notesMasterIdLst>
    <p:notesMasterId xmlns:r="http://schemas.openxmlformats.org/officeDocument/2006/relationships" r:id="Ref4709a4588f4a21"/>
  </p:notesMasterIdLst>
  <p:sldIdLst>
    <p:sldId xmlns:r="http://schemas.openxmlformats.org/officeDocument/2006/relationships" id="256" r:id="R1bb3c1cf1d2c4cf9"/>
    <p:sldId xmlns:r="http://schemas.openxmlformats.org/officeDocument/2006/relationships" id="257" r:id="R9ee57880e3d54d58"/>
    <p:sldId xmlns:r="http://schemas.openxmlformats.org/officeDocument/2006/relationships" id="258" r:id="Rbe3c47dcfdf149cf"/>
    <p:sldId xmlns:r="http://schemas.openxmlformats.org/officeDocument/2006/relationships" id="259" r:id="Re8670fec3fa644b4"/>
    <p:sldId xmlns:r="http://schemas.openxmlformats.org/officeDocument/2006/relationships" id="260" r:id="Rf5864b35e0334fe1"/>
    <p:sldId xmlns:r="http://schemas.openxmlformats.org/officeDocument/2006/relationships" id="261" r:id="Rdf59bfce92a0491a"/>
    <p:sldId xmlns:r="http://schemas.openxmlformats.org/officeDocument/2006/relationships" id="262" r:id="Rb1a65517c09a4ffe"/>
    <p:sldId xmlns:r="http://schemas.openxmlformats.org/officeDocument/2006/relationships" id="263" r:id="Re4f2a4d22dcc4d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4bccee85524817" /><Relationship Type="http://schemas.openxmlformats.org/officeDocument/2006/relationships/slideMaster" Target="/ppt/slideMasters/slideMaster1.xml" Id="Rbaad29004d9045ac" /><Relationship Type="http://schemas.openxmlformats.org/officeDocument/2006/relationships/notesMaster" Target="/ppt/notesMasters/notesMaster1.xml" Id="Ref4709a4588f4a21" /><Relationship Type="http://schemas.openxmlformats.org/officeDocument/2006/relationships/presProps" Target="/ppt/presProps.xml" Id="R2ee4331bb66b446e" /><Relationship Type="http://schemas.openxmlformats.org/officeDocument/2006/relationships/tableStyles" Target="/ppt/tableStyles.xml" Id="R716744796f464012" /><Relationship Type="http://schemas.openxmlformats.org/officeDocument/2006/relationships/slide" Target="/ppt/slides/slide1.xml" Id="R1bb3c1cf1d2c4cf9" /><Relationship Type="http://schemas.openxmlformats.org/officeDocument/2006/relationships/slide" Target="/ppt/slides/slide2.xml" Id="R9ee57880e3d54d58" /><Relationship Type="http://schemas.openxmlformats.org/officeDocument/2006/relationships/slide" Target="/ppt/slides/slide3.xml" Id="Rbe3c47dcfdf149cf" /><Relationship Type="http://schemas.openxmlformats.org/officeDocument/2006/relationships/slide" Target="/ppt/slides/slide4.xml" Id="Re8670fec3fa644b4" /><Relationship Type="http://schemas.openxmlformats.org/officeDocument/2006/relationships/slide" Target="/ppt/slides/slide5.xml" Id="Rf5864b35e0334fe1" /><Relationship Type="http://schemas.openxmlformats.org/officeDocument/2006/relationships/slide" Target="/ppt/slides/slide6.xml" Id="Rdf59bfce92a0491a" /><Relationship Type="http://schemas.openxmlformats.org/officeDocument/2006/relationships/slide" Target="/ppt/slides/slide7.xml" Id="Rb1a65517c09a4ffe" /><Relationship Type="http://schemas.openxmlformats.org/officeDocument/2006/relationships/slide" Target="/ppt/slides/slide8.xml" Id="Re4f2a4d22dcc4d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a0e1cf59244e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81feb0521e46f5" /><Relationship Type="http://schemas.openxmlformats.org/officeDocument/2006/relationships/notesMaster" Target="/ppt/notesMasters/notesMaster1.xml" Id="R94643e065bb443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ac7d5617c8448a" /><Relationship Type="http://schemas.openxmlformats.org/officeDocument/2006/relationships/notesMaster" Target="/ppt/notesMasters/notesMaster1.xml" Id="R60c553d3637744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6f6d06d3044cf0" /><Relationship Type="http://schemas.openxmlformats.org/officeDocument/2006/relationships/notesMaster" Target="/ppt/notesMasters/notesMaster1.xml" Id="R872e320a2ab54e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e15b22e57e4583" /><Relationship Type="http://schemas.openxmlformats.org/officeDocument/2006/relationships/notesMaster" Target="/ppt/notesMasters/notesMaster1.xml" Id="R6b9df0aabed34a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2a16e52a934f88" /><Relationship Type="http://schemas.openxmlformats.org/officeDocument/2006/relationships/notesMaster" Target="/ppt/notesMasters/notesMaster1.xml" Id="R5ec4ac03b68542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e391ed239c41f5" /><Relationship Type="http://schemas.openxmlformats.org/officeDocument/2006/relationships/notesMaster" Target="/ppt/notesMasters/notesMaster1.xml" Id="R0f85f2b5d02d41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7b73f625b4493f" /><Relationship Type="http://schemas.openxmlformats.org/officeDocument/2006/relationships/notesMaster" Target="/ppt/notesMasters/notesMaster1.xml" Id="R34c26b9f29c947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caa642c498453a" /><Relationship Type="http://schemas.openxmlformats.org/officeDocument/2006/relationships/notesMaster" Target="/ppt/notesMasters/notesMaster1.xml" Id="R04f996eb25ff4b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proposed scenario: a Hong Kong older adult or caregiver wants to add an over-the-counter medicine while already taking other medicines. The prototype confirms identity, shows selected source-backed warnings, and produces a pharmacist question card. This is not an evaluated clinical service. Team and repository: https://github.com/yc-eagle/med-safe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proposed workflow, not a validated demographic finding: older adults and caregivers compare a medicine bag or existing packs before adding an OTC cold or pain product. Hong Kong registration identifiers and the official catalogue support local identity matching. Medicine bag instructions are individual dispensing instructions and must not be replaced with a guessed box dose. Catalogue source: https://data.gov.hk/en-data/dataset/hk-dh-dh_do-hk-dh-do-pharmaceutical-product . HK general medicine advice: https://www.drugoffice.gov.hk/eps/do/en/consumer/news_informations/knowledge_on_medicines/general_use_on_medicine.html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Audited inventory: data/data_inventory.json, snapshot 2026-09-25. 14,269 unique HK registration numbers; 23,835 product-ingredient rows; 2,081 distinct original ingredient strings; 14 ingredient profiles with 13 educational source documents; 14 clinical rule drafts from 5 source documents; 13 illustrative formulations; 22 lexicon entries. 1,431 products have at least one mapped prepared ingredient; 674 have all listed ingredients mapped. Mapping is not clinical coverage. Clinically approved rules: zero. All rule and profile wording awaits professional review. Official source: https://data.gov.hk/en-data/dataset/hk-dh-dh_do-hk-dh-do-pharmaceutical-product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in this repository: app/engine.js, app/medicine-info.js, app/patient.js, data-pack/data/demo_rules.json. Up to 12 products yields up to 66 distinct product pairs. User confirms identity and route. Exact explicit ingredient aliases map known ingredients; unmapped ingredients remain missing. The engine enumerates product pairs and ingredient combinations, evaluates prepared rule applicability, retains source/jurisdiction and clinical-review status, and separately reports pending routes, unknowns and unmatched pairs. It does not infer a safety clearance, personal dose or higher-order interactions from pairwise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browser screenshot captured on 3 October 2026 during automated interactions with synthetic labels. HK-53362 PANADOL CAPLET 500MG and HK-53319 PANADOL COLD &amp; COUGH TAB both list paracetamol in the HK catalogue. R01 links to HK Drug Office paracetamol information: https://www.drugoffice.gov.hk/eps/do/en/consumer/news_informations/knowledge_on_medicines/paracetamol.html . The application does not calculate actual total dose or determine the user overdose risk. Synthetic UI demonstration, not a real patient or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browser screenshot captured from the current app. Selected medicines in this scenario include a sourced simvastatin/clarithromycin warning and an unidentified third medicine. The engine keeps the known warning while reporting an incomplete check and unresolved product pairs. The warning source is a US DailyMed clarithromycin label: https://dailymed.nlm.nih.gov/dailymed/drugInfo.cfm?setid=d22bd12c-737b-4aab-e053-2995a90aff60 . Local applicability requires professional review. No patient outcome or manual-baseline improvement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browser implementation uses bundled Tesseract JS with English and Traditional Chinese assets. Photos are processed in the browser, with user confirmation before checks. Offline assets require an initial download and readiness check; physical iPhone/Android testing is still pending at media production time. Browser SpeechRecognition can send audio to a browser provider and asks for consent. The optional Apple Silicon local Mac package uses Qwen3-ASR-0.6B-4bit with downloaded weights for local Cantonese transcription. Speech synthesis depends on installed browser/device voices. No claim that all phone voice input works offline.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tests exercise exact identity gates, multi-medicine pairs, unknown propagation, source-linked output, browser OCR on synthetic labels, microphone/camera consent fallbacks and mobile widths. Test logs are in qa/. These tests are not clinical approval, a real-pack benchmark, physical-device testing or a human usability study. Next evidence: Ella/pharmacist review of selected actual product labels and all corresponding rule wording; native Cantonese listening; consenting real users completing current manual lookup versus the prototype, recording completion, mistakes, time and remaining uncertainty. No fabricated results. Raccoon usage evidence is handled separately by Ella and is not presented as verified in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a4ac116a1443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177af206e14211" /><Relationship Type="http://schemas.openxmlformats.org/officeDocument/2006/relationships/slideLayout" Target="/ppt/slideLayouts/slideLayout1.xml" Id="R10997d1956b846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997d1956b846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b9c0c7e4f64968" /><Relationship Type="http://schemas.openxmlformats.org/officeDocument/2006/relationships/notesSlide" Target="/ppt/notesSlides/notesSlide1.xml" Id="R389c95aba3f84c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b5d6f380eb4f15" /><Relationship Type="http://schemas.openxmlformats.org/officeDocument/2006/relationships/notesSlide" Target="/ppt/notesSlides/notesSlide2.xml" Id="R24a5ddcca05143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9b2c492ece4c64" /><Relationship Type="http://schemas.openxmlformats.org/officeDocument/2006/relationships/notesSlide" Target="/ppt/notesSlides/notesSlide3.xml" Id="R35c96af702e340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c29b57dd6de40e6" /><Relationship Type="http://schemas.openxmlformats.org/officeDocument/2006/relationships/notesSlide" Target="/ppt/notesSlides/notesSlide4.xml" Id="R3f9bc7df435f4d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1fa6bb55a74c19" /><Relationship Type="http://schemas.openxmlformats.org/officeDocument/2006/relationships/image" Target="/ppt/media/image.png" Id="R46290ae9468840e8" /><Relationship Type="http://schemas.openxmlformats.org/officeDocument/2006/relationships/notesSlide" Target="/ppt/notesSlides/notesSlide5.xml" Id="Re4d71b465b4541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14279071c2a4a7b" /><Relationship Type="http://schemas.openxmlformats.org/officeDocument/2006/relationships/image" Target="/ppt/media/image2.png" Id="R80adb694b11a4ed1" /><Relationship Type="http://schemas.openxmlformats.org/officeDocument/2006/relationships/notesSlide" Target="/ppt/notesSlides/notesSlide6.xml" Id="R02c6074980ff4a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a2983cd3fb422b" /><Relationship Type="http://schemas.openxmlformats.org/officeDocument/2006/relationships/notesSlide" Target="/ppt/notesSlides/notesSlide7.xml" Id="Ra69f7afb79064c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700e1e86e04c6d" /><Relationship Type="http://schemas.openxmlformats.org/officeDocument/2006/relationships/notesSlide" Target="/ppt/notesSlides/notesSlide8.xml" Id="R480c28ca7a424545" /></Relationships>
</file>

<file path=ppt/slides/slide1.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5E8D19-E18B-4B77-BAE6-3381BDF9E27C}"/>
              </a:ext>
            </a:extLst>
          </p:cNvPr>
          <p:cNvSpPr>
            <a:spLocks xmlns:a="http://schemas.openxmlformats.org/drawingml/2006/main" noGrp="1"/>
          </p:cNvSpPr>
          <p:nvPr/>
        </p:nvSpPr>
        <p:spPr>
          <a:xfrm xmlns:a="http://schemas.openxmlformats.org/drawingml/2006/main">
            <a:off x="609600" y="40005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7"/>
                </a:solidFill>
                <a:latin typeface="Arial"/>
                <a:ea typeface="Arial"/>
                <a:cs typeface="Arial"/>
              </a:defRPr>
            </a:pPr>
            <a:r>
              <a:rPr sz="3300" b="1">
                <a:solidFill>
                  <a:srgbClr val="173D37"/>
                </a:solidFill>
                <a:latin typeface="Arial"/>
                <a:ea typeface="Arial"/>
                <a:cs typeface="Arial"/>
              </a:rPr>
              <a:t>Med Safe</a:t>
            </a:r>
          </a:p>
        </p:txBody>
      </p:sp>
      <p:sp>
        <p:nvSpPr>
          <p:cNvPr id="2" name="">
            <a:extLst xmlns:a="http://schemas.openxmlformats.org/drawingml/2006/main">
              <a:ext uri="{FF2B5EF4-FFF2-40B4-BE49-F238E27FC236}">
                <a16:creationId xmlns:a16="http://schemas.microsoft.com/office/drawing/2014/main" id="{8247ACA0-EC0D-41A4-AF4A-6B08BC24AF61}"/>
              </a:ext>
            </a:extLst>
          </p:cNvPr>
          <p:cNvSpPr>
            <a:spLocks xmlns:a="http://schemas.openxmlformats.org/drawingml/2006/main" noGrp="1"/>
          </p:cNvSpPr>
          <p:nvPr/>
        </p:nvSpPr>
        <p:spPr>
          <a:xfrm xmlns:a="http://schemas.openxmlformats.org/drawingml/2006/main">
            <a:off x="609600" y="641985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Med Safe  /  HacKU 2026  /  Prototype · 3 October 2026</a:t>
            </a:r>
          </a:p>
        </p:txBody>
      </p:sp>
      <p:sp>
        <p:nvSpPr>
          <p:cNvPr id="3" name="">
            <a:extLst xmlns:a="http://schemas.openxmlformats.org/drawingml/2006/main">
              <a:ext uri="{FF2B5EF4-FFF2-40B4-BE49-F238E27FC236}">
                <a16:creationId xmlns:a16="http://schemas.microsoft.com/office/drawing/2014/main" id="{0647996C-3FE2-4998-B0FD-9915BE2BB040}"/>
              </a:ext>
            </a:extLst>
          </p:cNvPr>
          <p:cNvSpPr>
            <a:spLocks xmlns:a="http://schemas.openxmlformats.org/drawingml/2006/main" noGrp="1"/>
          </p:cNvSpPr>
          <p:nvPr/>
        </p:nvSpPr>
        <p:spPr>
          <a:xfrm xmlns:a="http://schemas.openxmlformats.org/drawingml/2006/main">
            <a:off x="11144250" y="64198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565F919-43EB-499F-80AF-4997119B82AB}"/>
              </a:ext>
            </a:extLst>
          </p:cNvPr>
          <p:cNvSpPr>
            <a:spLocks xmlns:a="http://schemas.openxmlformats.org/drawingml/2006/main" noGrp="1"/>
          </p:cNvSpPr>
          <p:nvPr/>
        </p:nvSpPr>
        <p:spPr>
          <a:xfrm xmlns:a="http://schemas.openxmlformats.org/drawingml/2006/main">
            <a:off x="609600" y="1790700"/>
            <a:ext cx="109061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550" b="1">
                <a:solidFill>
                  <a:srgbClr val="246D63"/>
                </a:solidFill>
                <a:latin typeface="Arial"/>
                <a:ea typeface="Arial"/>
                <a:cs typeface="Arial"/>
              </a:defRPr>
            </a:pPr>
            <a:r>
              <a:rPr sz="5550" b="1">
                <a:solidFill>
                  <a:srgbClr val="246D63"/>
                </a:solidFill>
                <a:latin typeface="Arial"/>
                <a:ea typeface="Arial"/>
                <a:cs typeface="Arial"/>
              </a:rPr>
              <a:t>Before adding</a:t>
            </a:r>
          </a:p>
          <a:p xmlns:a="http://schemas.openxmlformats.org/drawingml/2006/main">
            <a:pPr>
              <a:defRPr sz="5550" b="1">
                <a:solidFill>
                  <a:srgbClr val="246D63"/>
                </a:solidFill>
                <a:latin typeface="Arial"/>
                <a:ea typeface="Arial"/>
                <a:cs typeface="Arial"/>
              </a:defRPr>
            </a:pPr>
            <a:r>
              <a:rPr sz="5550" b="1">
                <a:solidFill>
                  <a:srgbClr val="246D63"/>
                </a:solidFill>
                <a:latin typeface="Arial"/>
                <a:ea typeface="Arial"/>
                <a:cs typeface="Arial"/>
              </a:rPr>
              <a:t>a new medicine</a:t>
            </a:r>
          </a:p>
        </p:txBody>
      </p:sp>
      <p:sp>
        <p:nvSpPr>
          <p:cNvPr id="5" name="">
            <a:extLst xmlns:a="http://schemas.openxmlformats.org/drawingml/2006/main">
              <a:ext uri="{FF2B5EF4-FFF2-40B4-BE49-F238E27FC236}">
                <a16:creationId xmlns:a16="http://schemas.microsoft.com/office/drawing/2014/main" id="{A8942257-BCFA-4C48-AA17-072028779401}"/>
              </a:ext>
            </a:extLst>
          </p:cNvPr>
          <p:cNvSpPr>
            <a:spLocks xmlns:a="http://schemas.openxmlformats.org/drawingml/2006/main" noGrp="1"/>
          </p:cNvSpPr>
          <p:nvPr/>
        </p:nvSpPr>
        <p:spPr>
          <a:xfrm xmlns:a="http://schemas.openxmlformats.org/drawingml/2006/main">
            <a:off x="647700" y="4000500"/>
            <a:ext cx="1047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D37"/>
                </a:solidFill>
                <a:latin typeface="Arial"/>
                <a:ea typeface="Arial"/>
                <a:cs typeface="Arial"/>
              </a:defRPr>
            </a:pPr>
            <a:r>
              <a:rPr sz="2550" b="0">
                <a:solidFill>
                  <a:srgbClr val="173D37"/>
                </a:solidFill>
                <a:latin typeface="Arial"/>
                <a:ea typeface="Arial"/>
                <a:cs typeface="Arial"/>
              </a:rPr>
              <a:t>Confirm the label. Understand selected warnings.</a:t>
            </a:r>
          </a:p>
          <a:p xmlns:a="http://schemas.openxmlformats.org/drawingml/2006/main">
            <a:pPr>
              <a:defRPr sz="2550" b="0">
                <a:solidFill>
                  <a:srgbClr val="173D37"/>
                </a:solidFill>
                <a:latin typeface="Arial"/>
                <a:ea typeface="Arial"/>
                <a:cs typeface="Arial"/>
              </a:defRPr>
            </a:pPr>
            <a:r>
              <a:rPr sz="2550" b="0">
                <a:solidFill>
                  <a:srgbClr val="173D37"/>
                </a:solidFill>
                <a:latin typeface="Arial"/>
                <a:ea typeface="Arial"/>
                <a:cs typeface="Arial"/>
              </a:rPr>
              <a:t>Bring a clear question to the pharmacist.</a:t>
            </a:r>
          </a:p>
        </p:txBody>
      </p:sp>
      <p:sp>
        <p:nvSpPr>
          <p:cNvPr id="6" name="">
            <a:extLst xmlns:a="http://schemas.openxmlformats.org/drawingml/2006/main">
              <a:ext uri="{FF2B5EF4-FFF2-40B4-BE49-F238E27FC236}">
                <a16:creationId xmlns:a16="http://schemas.microsoft.com/office/drawing/2014/main" id="{34ADDF2E-3567-4304-91CC-1F2B126D5C6E}"/>
              </a:ext>
            </a:extLst>
          </p:cNvPr>
          <p:cNvSpPr>
            <a:spLocks xmlns:a="http://schemas.openxmlformats.org/drawingml/2006/main" noGrp="1"/>
          </p:cNvSpPr>
          <p:nvPr/>
        </p:nvSpPr>
        <p:spPr>
          <a:xfrm xmlns:a="http://schemas.openxmlformats.org/drawingml/2006/main">
            <a:off x="647700" y="56864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62"/>
                </a:solidFill>
                <a:latin typeface="Arial"/>
                <a:ea typeface="Arial"/>
                <a:cs typeface="Arial"/>
              </a:defRPr>
            </a:pPr>
            <a:r>
              <a:rPr sz="1800" b="0">
                <a:solidFill>
                  <a:srgbClr val="526762"/>
                </a:solidFill>
                <a:latin typeface="Arial"/>
                <a:ea typeface="Arial"/>
                <a:cs typeface="Arial"/>
              </a:rPr>
              <a:t>Hong Kong medicine data · Cantonese access · Sources beside the warning</a:t>
            </a:r>
          </a:p>
        </p:txBody>
      </p:sp>
    </p:spTree>
    <p:extLst>
      <p:ext uri="{BB962C8B-B14F-4D97-AF65-F5344CB8AC3E}">
        <p14:creationId xmlns:p14="http://schemas.microsoft.com/office/powerpoint/2010/main" val="1983017862"/>
      </p:ext>
    </p:extLst>
  </p:cSld>
</p:sld>
</file>

<file path=ppt/slides/slide2.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82C5D8-9ED6-4B02-90F1-ADCCEE33ABA7}"/>
              </a:ext>
            </a:extLst>
          </p:cNvPr>
          <p:cNvSpPr>
            <a:spLocks xmlns:a="http://schemas.openxmlformats.org/drawingml/2006/main" noGrp="1"/>
          </p:cNvSpPr>
          <p:nvPr/>
        </p:nvSpPr>
        <p:spPr>
          <a:xfrm xmlns:a="http://schemas.openxmlformats.org/drawingml/2006/main">
            <a:off x="609600" y="40005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7"/>
                </a:solidFill>
                <a:latin typeface="Arial"/>
                <a:ea typeface="Arial"/>
                <a:cs typeface="Arial"/>
              </a:defRPr>
            </a:pPr>
            <a:r>
              <a:rPr sz="3300" b="1">
                <a:solidFill>
                  <a:srgbClr val="173D37"/>
                </a:solidFill>
                <a:latin typeface="Arial"/>
                <a:ea typeface="Arial"/>
                <a:cs typeface="Arial"/>
              </a:rPr>
              <a:t>The Hong Kong use case</a:t>
            </a:r>
          </a:p>
        </p:txBody>
      </p:sp>
      <p:sp>
        <p:nvSpPr>
          <p:cNvPr id="2" name="">
            <a:extLst xmlns:a="http://schemas.openxmlformats.org/drawingml/2006/main">
              <a:ext uri="{FF2B5EF4-FFF2-40B4-BE49-F238E27FC236}">
                <a16:creationId xmlns:a16="http://schemas.microsoft.com/office/drawing/2014/main" id="{1F160C11-88C1-4D5B-9C52-921608D7314C}"/>
              </a:ext>
            </a:extLst>
          </p:cNvPr>
          <p:cNvSpPr>
            <a:spLocks xmlns:a="http://schemas.openxmlformats.org/drawingml/2006/main" noGrp="1"/>
          </p:cNvSpPr>
          <p:nvPr/>
        </p:nvSpPr>
        <p:spPr>
          <a:xfrm xmlns:a="http://schemas.openxmlformats.org/drawingml/2006/main">
            <a:off x="609600" y="641985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Med Safe  /  HacKU 2026  /  Prototype · 3 October 2026</a:t>
            </a:r>
          </a:p>
        </p:txBody>
      </p:sp>
      <p:sp>
        <p:nvSpPr>
          <p:cNvPr id="3" name="">
            <a:extLst xmlns:a="http://schemas.openxmlformats.org/drawingml/2006/main">
              <a:ext uri="{FF2B5EF4-FFF2-40B4-BE49-F238E27FC236}">
                <a16:creationId xmlns:a16="http://schemas.microsoft.com/office/drawing/2014/main" id="{F842DDF3-8605-464B-B416-47F8708D0DF5}"/>
              </a:ext>
            </a:extLst>
          </p:cNvPr>
          <p:cNvSpPr>
            <a:spLocks xmlns:a="http://schemas.openxmlformats.org/drawingml/2006/main" noGrp="1"/>
          </p:cNvSpPr>
          <p:nvPr/>
        </p:nvSpPr>
        <p:spPr>
          <a:xfrm xmlns:a="http://schemas.openxmlformats.org/drawingml/2006/main">
            <a:off x="11144250" y="64198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53818097-00D9-4232-A136-31D6253CE0B4}"/>
              </a:ext>
            </a:extLst>
          </p:cNvPr>
          <p:cNvSpPr>
            <a:spLocks xmlns:a="http://schemas.openxmlformats.org/drawingml/2006/main" noGrp="1"/>
          </p:cNvSpPr>
          <p:nvPr/>
        </p:nvSpPr>
        <p:spPr>
          <a:xfrm xmlns:a="http://schemas.openxmlformats.org/drawingml/2006/main">
            <a:off x="609600" y="1638300"/>
            <a:ext cx="538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6D63"/>
                </a:solidFill>
                <a:latin typeface="Arial"/>
                <a:ea typeface="Arial"/>
                <a:cs typeface="Arial"/>
              </a:defRPr>
            </a:pPr>
            <a:r>
              <a:rPr sz="2325" b="1">
                <a:solidFill>
                  <a:srgbClr val="246D63"/>
                </a:solidFill>
                <a:latin typeface="Arial"/>
                <a:ea typeface="Arial"/>
                <a:cs typeface="Arial"/>
              </a:rPr>
              <a:t>A common decision point</a:t>
            </a:r>
          </a:p>
        </p:txBody>
      </p:sp>
      <p:sp>
        <p:nvSpPr>
          <p:cNvPr id="5" name="">
            <a:extLst xmlns:a="http://schemas.openxmlformats.org/drawingml/2006/main">
              <a:ext uri="{FF2B5EF4-FFF2-40B4-BE49-F238E27FC236}">
                <a16:creationId xmlns:a16="http://schemas.microsoft.com/office/drawing/2014/main" id="{DFD35287-A6F4-41FF-BA9E-0C4BBECC6138}"/>
              </a:ext>
            </a:extLst>
          </p:cNvPr>
          <p:cNvSpPr>
            <a:spLocks xmlns:a="http://schemas.openxmlformats.org/drawingml/2006/main" noGrp="1"/>
          </p:cNvSpPr>
          <p:nvPr/>
        </p:nvSpPr>
        <p:spPr>
          <a:xfrm xmlns:a="http://schemas.openxmlformats.org/drawingml/2006/main">
            <a:off x="609600" y="23145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73D37"/>
                </a:solidFill>
                <a:latin typeface="Arial"/>
                <a:ea typeface="Arial"/>
                <a:cs typeface="Arial"/>
              </a:defRPr>
            </a:pPr>
            <a:r>
              <a:rPr sz="2850" b="0">
                <a:solidFill>
                  <a:srgbClr val="173D37"/>
                </a:solidFill>
                <a:latin typeface="Arial"/>
                <a:ea typeface="Arial"/>
                <a:cs typeface="Arial"/>
              </a:rPr>
              <a:t>“I already take these medicines.</a:t>
            </a:r>
          </a:p>
          <a:p xmlns:a="http://schemas.openxmlformats.org/drawingml/2006/main">
            <a:pPr>
              <a:defRPr sz="2850" b="0">
                <a:solidFill>
                  <a:srgbClr val="173D37"/>
                </a:solidFill>
                <a:latin typeface="Arial"/>
                <a:ea typeface="Arial"/>
                <a:cs typeface="Arial"/>
              </a:defRPr>
            </a:pPr>
            <a:r>
              <a:rPr sz="2850" b="0">
                <a:solidFill>
                  <a:srgbClr val="173D37"/>
                </a:solidFill>
                <a:latin typeface="Arial"/>
                <a:ea typeface="Arial"/>
                <a:cs typeface="Arial"/>
              </a:rPr>
              <a:t>Can I add this cold medicine?”</a:t>
            </a:r>
          </a:p>
        </p:txBody>
      </p:sp>
      <p:sp>
        <p:nvSpPr>
          <p:cNvPr id="6" name="">
            <a:extLst xmlns:a="http://schemas.openxmlformats.org/drawingml/2006/main">
              <a:ext uri="{FF2B5EF4-FFF2-40B4-BE49-F238E27FC236}">
                <a16:creationId xmlns:a16="http://schemas.microsoft.com/office/drawing/2014/main" id="{344426CA-2E33-4DE2-ACEC-8DCCC78641B8}"/>
              </a:ext>
            </a:extLst>
          </p:cNvPr>
          <p:cNvSpPr>
            <a:spLocks xmlns:a="http://schemas.openxmlformats.org/drawingml/2006/main" noGrp="1"/>
          </p:cNvSpPr>
          <p:nvPr/>
        </p:nvSpPr>
        <p:spPr>
          <a:xfrm xmlns:a="http://schemas.openxmlformats.org/drawingml/2006/main">
            <a:off x="609600" y="372427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7"/>
                </a:solidFill>
                <a:latin typeface="Arial"/>
                <a:ea typeface="Arial"/>
                <a:cs typeface="Arial"/>
              </a:defRPr>
            </a:pPr>
            <a:r>
              <a:rPr sz="2175" b="1">
                <a:solidFill>
                  <a:srgbClr val="173D37"/>
                </a:solidFill>
                <a:latin typeface="Arial"/>
                <a:ea typeface="Arial"/>
                <a:cs typeface="Arial"/>
              </a:rPr>
              <a:t>The user has</a:t>
            </a:r>
          </a:p>
        </p:txBody>
      </p:sp>
      <p:sp>
        <p:nvSpPr>
          <p:cNvPr id="7" name="">
            <a:extLst xmlns:a="http://schemas.openxmlformats.org/drawingml/2006/main">
              <a:ext uri="{FF2B5EF4-FFF2-40B4-BE49-F238E27FC236}">
                <a16:creationId xmlns:a16="http://schemas.microsoft.com/office/drawing/2014/main" id="{EBA0D921-EC9E-496B-B502-C8660596FB02}"/>
              </a:ext>
            </a:extLst>
          </p:cNvPr>
          <p:cNvSpPr>
            <a:spLocks xmlns:a="http://schemas.openxmlformats.org/drawingml/2006/main" noGrp="1"/>
          </p:cNvSpPr>
          <p:nvPr/>
        </p:nvSpPr>
        <p:spPr>
          <a:xfrm xmlns:a="http://schemas.openxmlformats.org/drawingml/2006/main">
            <a:off x="609600" y="4352925"/>
            <a:ext cx="4905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A pharmacy bag, medicine packs,</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and instructions that may differ</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from general packaging.</a:t>
            </a:r>
          </a:p>
        </p:txBody>
      </p:sp>
      <p:sp>
        <p:nvSpPr>
          <p:cNvPr id="8" name="">
            <a:extLst xmlns:a="http://schemas.openxmlformats.org/drawingml/2006/main">
              <a:ext uri="{FF2B5EF4-FFF2-40B4-BE49-F238E27FC236}">
                <a16:creationId xmlns:a16="http://schemas.microsoft.com/office/drawing/2014/main" id="{5C32C927-CBAE-4E29-8E8E-10F4B98C9EFC}"/>
              </a:ext>
            </a:extLst>
          </p:cNvPr>
          <p:cNvSpPr>
            <a:spLocks xmlns:a="http://schemas.openxmlformats.org/drawingml/2006/main" noGrp="1"/>
          </p:cNvSpPr>
          <p:nvPr/>
        </p:nvSpPr>
        <p:spPr>
          <a:xfrm xmlns:a="http://schemas.openxmlformats.org/drawingml/2006/main">
            <a:off x="6572250" y="37242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7"/>
                </a:solidFill>
                <a:latin typeface="Arial"/>
                <a:ea typeface="Arial"/>
                <a:cs typeface="Arial"/>
              </a:defRPr>
            </a:pPr>
            <a:r>
              <a:rPr sz="2175" b="1">
                <a:solidFill>
                  <a:srgbClr val="173D37"/>
                </a:solidFill>
                <a:latin typeface="Arial"/>
                <a:ea typeface="Arial"/>
                <a:cs typeface="Arial"/>
              </a:rPr>
              <a:t>The app prepares</a:t>
            </a:r>
          </a:p>
        </p:txBody>
      </p:sp>
      <p:sp>
        <p:nvSpPr>
          <p:cNvPr id="9" name="">
            <a:extLst xmlns:a="http://schemas.openxmlformats.org/drawingml/2006/main">
              <a:ext uri="{FF2B5EF4-FFF2-40B4-BE49-F238E27FC236}">
                <a16:creationId xmlns:a16="http://schemas.microsoft.com/office/drawing/2014/main" id="{0EB497B4-854B-464B-B714-DF7E66FEE8E3}"/>
              </a:ext>
            </a:extLst>
          </p:cNvPr>
          <p:cNvSpPr>
            <a:spLocks xmlns:a="http://schemas.openxmlformats.org/drawingml/2006/main" noGrp="1"/>
          </p:cNvSpPr>
          <p:nvPr/>
        </p:nvSpPr>
        <p:spPr>
          <a:xfrm xmlns:a="http://schemas.openxmlformats.org/drawingml/2006/main">
            <a:off x="6572250" y="4352925"/>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Confirmed product identities,</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selected warnings, and questions</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for a professional to resolve.</a:t>
            </a:r>
          </a:p>
        </p:txBody>
      </p:sp>
    </p:spTree>
    <p:extLst>
      <p:ext uri="{BB962C8B-B14F-4D97-AF65-F5344CB8AC3E}">
        <p14:creationId xmlns:p14="http://schemas.microsoft.com/office/powerpoint/2010/main" val="343735338"/>
      </p:ext>
    </p:extLst>
  </p:cSld>
</p:sld>
</file>

<file path=ppt/slides/slide3.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A14BB1B-CD9F-4173-A9ED-E8BC486869F4}"/>
              </a:ext>
            </a:extLst>
          </p:cNvPr>
          <p:cNvSpPr>
            <a:spLocks xmlns:a="http://schemas.openxmlformats.org/drawingml/2006/main" noGrp="1"/>
          </p:cNvSpPr>
          <p:nvPr/>
        </p:nvSpPr>
        <p:spPr>
          <a:xfrm xmlns:a="http://schemas.openxmlformats.org/drawingml/2006/main">
            <a:off x="609600" y="40005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7"/>
                </a:solidFill>
                <a:latin typeface="Arial"/>
                <a:ea typeface="Arial"/>
                <a:cs typeface="Arial"/>
              </a:defRPr>
            </a:pPr>
            <a:r>
              <a:rPr sz="3300" b="1">
                <a:solidFill>
                  <a:srgbClr val="173D37"/>
                </a:solidFill>
                <a:latin typeface="Arial"/>
                <a:ea typeface="Arial"/>
                <a:cs typeface="Arial"/>
              </a:rPr>
              <a:t>Data scope is visible</a:t>
            </a:r>
          </a:p>
        </p:txBody>
      </p:sp>
      <p:sp>
        <p:nvSpPr>
          <p:cNvPr id="2" name="">
            <a:extLst xmlns:a="http://schemas.openxmlformats.org/drawingml/2006/main">
              <a:ext uri="{FF2B5EF4-FFF2-40B4-BE49-F238E27FC236}">
                <a16:creationId xmlns:a16="http://schemas.microsoft.com/office/drawing/2014/main" id="{8FCE1E29-7C97-43F9-A1CC-806BF7D73F89}"/>
              </a:ext>
            </a:extLst>
          </p:cNvPr>
          <p:cNvSpPr>
            <a:spLocks xmlns:a="http://schemas.openxmlformats.org/drawingml/2006/main" noGrp="1"/>
          </p:cNvSpPr>
          <p:nvPr/>
        </p:nvSpPr>
        <p:spPr>
          <a:xfrm xmlns:a="http://schemas.openxmlformats.org/drawingml/2006/main">
            <a:off x="609600" y="641985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Med Safe  /  HacKU 2026  /  Prototype · 3 October 2026</a:t>
            </a:r>
          </a:p>
        </p:txBody>
      </p:sp>
      <p:sp>
        <p:nvSpPr>
          <p:cNvPr id="3" name="">
            <a:extLst xmlns:a="http://schemas.openxmlformats.org/drawingml/2006/main">
              <a:ext uri="{FF2B5EF4-FFF2-40B4-BE49-F238E27FC236}">
                <a16:creationId xmlns:a16="http://schemas.microsoft.com/office/drawing/2014/main" id="{61E9C2CE-A331-4307-ADA1-05C35A4F6B71}"/>
              </a:ext>
            </a:extLst>
          </p:cNvPr>
          <p:cNvSpPr>
            <a:spLocks xmlns:a="http://schemas.openxmlformats.org/drawingml/2006/main" noGrp="1"/>
          </p:cNvSpPr>
          <p:nvPr/>
        </p:nvSpPr>
        <p:spPr>
          <a:xfrm xmlns:a="http://schemas.openxmlformats.org/drawingml/2006/main">
            <a:off x="11144250" y="64198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95F61E17-1285-4C88-81B1-3AFCC500019D}"/>
              </a:ext>
            </a:extLst>
          </p:cNvPr>
          <p:cNvSpPr>
            <a:spLocks xmlns:a="http://schemas.openxmlformats.org/drawingml/2006/main" noGrp="1"/>
          </p:cNvSpPr>
          <p:nvPr/>
        </p:nvSpPr>
        <p:spPr>
          <a:xfrm xmlns:a="http://schemas.openxmlformats.org/drawingml/2006/main">
            <a:off x="609600" y="1543050"/>
            <a:ext cx="5810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246D63"/>
                </a:solidFill>
                <a:latin typeface="Arial"/>
                <a:ea typeface="Arial"/>
                <a:cs typeface="Arial"/>
              </a:defRPr>
            </a:pPr>
            <a:r>
              <a:rPr sz="6750" b="1">
                <a:solidFill>
                  <a:srgbClr val="246D63"/>
                </a:solidFill>
                <a:latin typeface="Arial"/>
                <a:ea typeface="Arial"/>
                <a:cs typeface="Arial"/>
              </a:rPr>
              <a:t>14,269</a:t>
            </a:r>
          </a:p>
        </p:txBody>
      </p:sp>
      <p:sp>
        <p:nvSpPr>
          <p:cNvPr id="5" name="">
            <a:extLst xmlns:a="http://schemas.openxmlformats.org/drawingml/2006/main">
              <a:ext uri="{FF2B5EF4-FFF2-40B4-BE49-F238E27FC236}">
                <a16:creationId xmlns:a16="http://schemas.microsoft.com/office/drawing/2014/main" id="{7E309E15-815E-41E8-8EC2-0D77E20F0BB8}"/>
              </a:ext>
            </a:extLst>
          </p:cNvPr>
          <p:cNvSpPr>
            <a:spLocks xmlns:a="http://schemas.openxmlformats.org/drawingml/2006/main" noGrp="1"/>
          </p:cNvSpPr>
          <p:nvPr/>
        </p:nvSpPr>
        <p:spPr>
          <a:xfrm xmlns:a="http://schemas.openxmlformats.org/drawingml/2006/main">
            <a:off x="647700" y="2895600"/>
            <a:ext cx="5286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Hong Kong registered products</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Official snapshot: 25 September 2026</a:t>
            </a:r>
          </a:p>
        </p:txBody>
      </p:sp>
      <p:sp>
        <p:nvSpPr>
          <p:cNvPr id="6" name="">
            <a:extLst xmlns:a="http://schemas.openxmlformats.org/drawingml/2006/main">
              <a:ext uri="{FF2B5EF4-FFF2-40B4-BE49-F238E27FC236}">
                <a16:creationId xmlns:a16="http://schemas.microsoft.com/office/drawing/2014/main" id="{BF18F4CA-453D-4226-B810-712414CAD629}"/>
              </a:ext>
            </a:extLst>
          </p:cNvPr>
          <p:cNvSpPr>
            <a:spLocks xmlns:a="http://schemas.openxmlformats.org/drawingml/2006/main" noGrp="1"/>
          </p:cNvSpPr>
          <p:nvPr/>
        </p:nvSpPr>
        <p:spPr>
          <a:xfrm xmlns:a="http://schemas.openxmlformats.org/drawingml/2006/main">
            <a:off x="7096125" y="163830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D37"/>
                </a:solidFill>
                <a:latin typeface="Arial"/>
                <a:ea typeface="Arial"/>
                <a:cs typeface="Arial"/>
              </a:defRPr>
            </a:pPr>
            <a:r>
              <a:rPr sz="3600" b="1">
                <a:solidFill>
                  <a:srgbClr val="173D37"/>
                </a:solidFill>
                <a:latin typeface="Arial"/>
                <a:ea typeface="Arial"/>
                <a:cs typeface="Arial"/>
              </a:rPr>
              <a:t>23,835</a:t>
            </a:r>
          </a:p>
        </p:txBody>
      </p:sp>
      <p:sp>
        <p:nvSpPr>
          <p:cNvPr id="7" name="">
            <a:extLst xmlns:a="http://schemas.openxmlformats.org/drawingml/2006/main">
              <a:ext uri="{FF2B5EF4-FFF2-40B4-BE49-F238E27FC236}">
                <a16:creationId xmlns:a16="http://schemas.microsoft.com/office/drawing/2014/main" id="{35FBD555-5532-40B0-B7EB-7F695613E357}"/>
              </a:ext>
            </a:extLst>
          </p:cNvPr>
          <p:cNvSpPr>
            <a:spLocks xmlns:a="http://schemas.openxmlformats.org/drawingml/2006/main" noGrp="1"/>
          </p:cNvSpPr>
          <p:nvPr/>
        </p:nvSpPr>
        <p:spPr>
          <a:xfrm xmlns:a="http://schemas.openxmlformats.org/drawingml/2006/main">
            <a:off x="7096125" y="239077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7"/>
                </a:solidFill>
                <a:latin typeface="Arial"/>
                <a:ea typeface="Arial"/>
                <a:cs typeface="Arial"/>
              </a:defRPr>
            </a:pPr>
            <a:r>
              <a:rPr sz="2025" b="0">
                <a:solidFill>
                  <a:srgbClr val="173D37"/>
                </a:solidFill>
                <a:latin typeface="Arial"/>
                <a:ea typeface="Arial"/>
                <a:cs typeface="Arial"/>
              </a:rPr>
              <a:t>product–ingredient rows</a:t>
            </a:r>
          </a:p>
        </p:txBody>
      </p:sp>
      <p:sp>
        <p:nvSpPr>
          <p:cNvPr id="8" name="">
            <a:extLst xmlns:a="http://schemas.openxmlformats.org/drawingml/2006/main">
              <a:ext uri="{FF2B5EF4-FFF2-40B4-BE49-F238E27FC236}">
                <a16:creationId xmlns:a16="http://schemas.microsoft.com/office/drawing/2014/main" id="{93A3F1E6-E4DC-42A6-AF6F-3CD41218607B}"/>
              </a:ext>
            </a:extLst>
          </p:cNvPr>
          <p:cNvSpPr>
            <a:spLocks xmlns:a="http://schemas.openxmlformats.org/drawingml/2006/main" noGrp="1"/>
          </p:cNvSpPr>
          <p:nvPr/>
        </p:nvSpPr>
        <p:spPr>
          <a:xfrm xmlns:a="http://schemas.openxmlformats.org/drawingml/2006/main">
            <a:off x="7096125" y="3076575"/>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D37"/>
                </a:solidFill>
                <a:latin typeface="Arial"/>
                <a:ea typeface="Arial"/>
                <a:cs typeface="Arial"/>
              </a:defRPr>
            </a:pPr>
            <a:r>
              <a:rPr sz="3600" b="1">
                <a:solidFill>
                  <a:srgbClr val="173D37"/>
                </a:solidFill>
                <a:latin typeface="Arial"/>
                <a:ea typeface="Arial"/>
                <a:cs typeface="Arial"/>
              </a:rPr>
              <a:t>2,081</a:t>
            </a:r>
          </a:p>
        </p:txBody>
      </p:sp>
      <p:sp>
        <p:nvSpPr>
          <p:cNvPr id="9" name="">
            <a:extLst xmlns:a="http://schemas.openxmlformats.org/drawingml/2006/main">
              <a:ext uri="{FF2B5EF4-FFF2-40B4-BE49-F238E27FC236}">
                <a16:creationId xmlns:a16="http://schemas.microsoft.com/office/drawing/2014/main" id="{C16842AF-6EA0-4412-8072-64BF712AB1AF}"/>
              </a:ext>
            </a:extLst>
          </p:cNvPr>
          <p:cNvSpPr>
            <a:spLocks xmlns:a="http://schemas.openxmlformats.org/drawingml/2006/main" noGrp="1"/>
          </p:cNvSpPr>
          <p:nvPr/>
        </p:nvSpPr>
        <p:spPr>
          <a:xfrm xmlns:a="http://schemas.openxmlformats.org/drawingml/2006/main">
            <a:off x="7096125" y="38195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7"/>
                </a:solidFill>
                <a:latin typeface="Arial"/>
                <a:ea typeface="Arial"/>
                <a:cs typeface="Arial"/>
              </a:defRPr>
            </a:pPr>
            <a:r>
              <a:rPr sz="2025" b="0">
                <a:solidFill>
                  <a:srgbClr val="173D37"/>
                </a:solidFill>
                <a:latin typeface="Arial"/>
                <a:ea typeface="Arial"/>
                <a:cs typeface="Arial"/>
              </a:rPr>
              <a:t>original ingredient strings</a:t>
            </a:r>
          </a:p>
        </p:txBody>
      </p:sp>
      <p:sp>
        <p:nvSpPr>
          <p:cNvPr id="10" name="">
            <a:extLst xmlns:a="http://schemas.openxmlformats.org/drawingml/2006/main">
              <a:ext uri="{FF2B5EF4-FFF2-40B4-BE49-F238E27FC236}">
                <a16:creationId xmlns:a16="http://schemas.microsoft.com/office/drawing/2014/main" id="{B0EE22A4-0C70-4048-85A9-86305CBEEADD}"/>
              </a:ext>
            </a:extLst>
          </p:cNvPr>
          <p:cNvSpPr>
            <a:spLocks xmlns:a="http://schemas.openxmlformats.org/drawingml/2006/main" noGrp="1"/>
          </p:cNvSpPr>
          <p:nvPr/>
        </p:nvSpPr>
        <p:spPr>
          <a:xfrm xmlns:a="http://schemas.openxmlformats.org/drawingml/2006/main">
            <a:off x="609600" y="483870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D37"/>
                </a:solidFill>
                <a:latin typeface="Arial"/>
                <a:ea typeface="Arial"/>
                <a:cs typeface="Arial"/>
              </a:defRPr>
            </a:pPr>
            <a:r>
              <a:rPr sz="2250" b="1">
                <a:solidFill>
                  <a:srgbClr val="173D37"/>
                </a:solidFill>
                <a:latin typeface="Arial"/>
                <a:ea typeface="Arial"/>
                <a:cs typeface="Arial"/>
              </a:rPr>
              <a:t>14 ingredient profiles   ·   14 rule drafts   ·   22 lexicon entries</a:t>
            </a:r>
          </a:p>
        </p:txBody>
      </p:sp>
      <p:sp>
        <p:nvSpPr>
          <p:cNvPr id="11" name="">
            <a:extLst xmlns:a="http://schemas.openxmlformats.org/drawingml/2006/main">
              <a:ext uri="{FF2B5EF4-FFF2-40B4-BE49-F238E27FC236}">
                <a16:creationId xmlns:a16="http://schemas.microsoft.com/office/drawing/2014/main" id="{E64A1119-BFC2-41E9-80DA-0475B9820FD0}"/>
              </a:ext>
            </a:extLst>
          </p:cNvPr>
          <p:cNvSpPr>
            <a:spLocks xmlns:a="http://schemas.openxmlformats.org/drawingml/2006/main" noGrp="1"/>
          </p:cNvSpPr>
          <p:nvPr/>
        </p:nvSpPr>
        <p:spPr>
          <a:xfrm xmlns:a="http://schemas.openxmlformats.org/drawingml/2006/main">
            <a:off x="609600" y="560070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2591D"/>
                </a:solidFill>
                <a:latin typeface="Arial"/>
                <a:ea typeface="Arial"/>
                <a:cs typeface="Arial"/>
              </a:defRPr>
            </a:pPr>
            <a:r>
              <a:rPr sz="1725" b="0">
                <a:solidFill>
                  <a:srgbClr val="92591D"/>
                </a:solidFill>
                <a:latin typeface="Arial"/>
                <a:ea typeface="Arial"/>
                <a:cs typeface="Arial"/>
              </a:rPr>
              <a:t>Catalogue size and ingredient mapping do not establish clinical coverage.</a:t>
            </a:r>
          </a:p>
          <a:p xmlns:a="http://schemas.openxmlformats.org/drawingml/2006/main">
            <a:pPr>
              <a:defRPr sz="1725" b="0">
                <a:solidFill>
                  <a:srgbClr val="92591D"/>
                </a:solidFill>
                <a:latin typeface="Arial"/>
                <a:ea typeface="Arial"/>
                <a:cs typeface="Arial"/>
              </a:defRPr>
            </a:pPr>
            <a:r>
              <a:rPr sz="1725" b="0">
                <a:solidFill>
                  <a:srgbClr val="92591D"/>
                </a:solidFill>
                <a:latin typeface="Arial"/>
                <a:ea typeface="Arial"/>
                <a:cs typeface="Arial"/>
              </a:rPr>
              <a:t>All clinical rules still await professional review.</a:t>
            </a:r>
          </a:p>
        </p:txBody>
      </p:sp>
    </p:spTree>
    <p:extLst>
      <p:ext uri="{BB962C8B-B14F-4D97-AF65-F5344CB8AC3E}">
        <p14:creationId xmlns:p14="http://schemas.microsoft.com/office/powerpoint/2010/main" val="1465726825"/>
      </p:ext>
    </p:extLst>
  </p:cSld>
</p:sld>
</file>

<file path=ppt/slides/slide4.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5985EF7-4B4D-4B84-95A1-A88738C75BDD}"/>
              </a:ext>
            </a:extLst>
          </p:cNvPr>
          <p:cNvSpPr>
            <a:spLocks xmlns:a="http://schemas.openxmlformats.org/drawingml/2006/main" noGrp="1"/>
          </p:cNvSpPr>
          <p:nvPr/>
        </p:nvSpPr>
        <p:spPr>
          <a:xfrm xmlns:a="http://schemas.openxmlformats.org/drawingml/2006/main">
            <a:off x="609600" y="40005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7"/>
                </a:solidFill>
                <a:latin typeface="Arial"/>
                <a:ea typeface="Arial"/>
                <a:cs typeface="Arial"/>
              </a:defRPr>
            </a:pPr>
            <a:r>
              <a:rPr sz="3300" b="1">
                <a:solidFill>
                  <a:srgbClr val="173D37"/>
                </a:solidFill>
                <a:latin typeface="Arial"/>
                <a:ea typeface="Arial"/>
                <a:cs typeface="Arial"/>
              </a:rPr>
              <a:t>How a medicine check works</a:t>
            </a:r>
          </a:p>
        </p:txBody>
      </p:sp>
      <p:sp>
        <p:nvSpPr>
          <p:cNvPr id="2" name="">
            <a:extLst xmlns:a="http://schemas.openxmlformats.org/drawingml/2006/main">
              <a:ext uri="{FF2B5EF4-FFF2-40B4-BE49-F238E27FC236}">
                <a16:creationId xmlns:a16="http://schemas.microsoft.com/office/drawing/2014/main" id="{DC0394DF-499D-4040-A9EF-402261BDCF1A}"/>
              </a:ext>
            </a:extLst>
          </p:cNvPr>
          <p:cNvSpPr>
            <a:spLocks xmlns:a="http://schemas.openxmlformats.org/drawingml/2006/main" noGrp="1"/>
          </p:cNvSpPr>
          <p:nvPr/>
        </p:nvSpPr>
        <p:spPr>
          <a:xfrm xmlns:a="http://schemas.openxmlformats.org/drawingml/2006/main">
            <a:off x="609600" y="641985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Med Safe  /  HacKU 2026  /  Prototype · 3 October 2026</a:t>
            </a:r>
          </a:p>
        </p:txBody>
      </p:sp>
      <p:sp>
        <p:nvSpPr>
          <p:cNvPr id="3" name="">
            <a:extLst xmlns:a="http://schemas.openxmlformats.org/drawingml/2006/main">
              <a:ext uri="{FF2B5EF4-FFF2-40B4-BE49-F238E27FC236}">
                <a16:creationId xmlns:a16="http://schemas.microsoft.com/office/drawing/2014/main" id="{AC958BCD-A92B-4B81-B70A-195387C2D11A}"/>
              </a:ext>
            </a:extLst>
          </p:cNvPr>
          <p:cNvSpPr>
            <a:spLocks xmlns:a="http://schemas.openxmlformats.org/drawingml/2006/main" noGrp="1"/>
          </p:cNvSpPr>
          <p:nvPr/>
        </p:nvSpPr>
        <p:spPr>
          <a:xfrm xmlns:a="http://schemas.openxmlformats.org/drawingml/2006/main">
            <a:off x="11144250" y="64198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83E3C63A-EB44-4893-A043-16F8E1E3ABA4}"/>
              </a:ext>
            </a:extLst>
          </p:cNvPr>
          <p:cNvSpPr>
            <a:spLocks xmlns:a="http://schemas.openxmlformats.org/drawingml/2006/main" noGrp="1"/>
          </p:cNvSpPr>
          <p:nvPr/>
        </p:nvSpPr>
        <p:spPr>
          <a:xfrm xmlns:a="http://schemas.openxmlformats.org/drawingml/2006/main">
            <a:off x="609600" y="158115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46D63"/>
                </a:solidFill>
                <a:latin typeface="Arial"/>
                <a:ea typeface="Arial"/>
                <a:cs typeface="Arial"/>
              </a:defRPr>
            </a:pPr>
            <a:r>
              <a:rPr sz="2850" b="1">
                <a:solidFill>
                  <a:srgbClr val="246D63"/>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8797145-4F70-4C32-9E2C-E026D3C99507}"/>
              </a:ext>
            </a:extLst>
          </p:cNvPr>
          <p:cNvSpPr>
            <a:spLocks xmlns:a="http://schemas.openxmlformats.org/drawingml/2006/main" noGrp="1"/>
          </p:cNvSpPr>
          <p:nvPr/>
        </p:nvSpPr>
        <p:spPr>
          <a:xfrm xmlns:a="http://schemas.openxmlformats.org/drawingml/2006/main">
            <a:off x="1714500" y="1581150"/>
            <a:ext cx="971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D37"/>
                </a:solidFill>
                <a:latin typeface="Arial"/>
                <a:ea typeface="Arial"/>
                <a:cs typeface="Arial"/>
              </a:defRPr>
            </a:pPr>
            <a:r>
              <a:rPr sz="2250" b="1">
                <a:solidFill>
                  <a:srgbClr val="173D37"/>
                </a:solidFill>
                <a:latin typeface="Arial"/>
                <a:ea typeface="Arial"/>
                <a:cs typeface="Arial"/>
              </a:rPr>
              <a:t>Confirm identity and route</a:t>
            </a:r>
          </a:p>
        </p:txBody>
      </p:sp>
      <p:sp>
        <p:nvSpPr>
          <p:cNvPr id="6" name="">
            <a:extLst xmlns:a="http://schemas.openxmlformats.org/drawingml/2006/main">
              <a:ext uri="{FF2B5EF4-FFF2-40B4-BE49-F238E27FC236}">
                <a16:creationId xmlns:a16="http://schemas.microsoft.com/office/drawing/2014/main" id="{9800F03A-B80C-4394-90CD-65334EA231BA}"/>
              </a:ext>
            </a:extLst>
          </p:cNvPr>
          <p:cNvSpPr>
            <a:spLocks xmlns:a="http://schemas.openxmlformats.org/drawingml/2006/main" noGrp="1"/>
          </p:cNvSpPr>
          <p:nvPr/>
        </p:nvSpPr>
        <p:spPr>
          <a:xfrm xmlns:a="http://schemas.openxmlformats.org/drawingml/2006/main">
            <a:off x="1714500" y="20859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D37"/>
                </a:solidFill>
                <a:latin typeface="Arial"/>
                <a:ea typeface="Arial"/>
                <a:cs typeface="Arial"/>
              </a:defRPr>
            </a:pPr>
            <a:r>
              <a:rPr sz="1875" b="0">
                <a:solidFill>
                  <a:srgbClr val="173D37"/>
                </a:solidFill>
                <a:latin typeface="Arial"/>
                <a:ea typeface="Arial"/>
                <a:cs typeface="Arial"/>
              </a:rPr>
              <a:t>A candidate from OCR or a name is not a confirmed medicine.</a:t>
            </a:r>
          </a:p>
        </p:txBody>
      </p:sp>
      <p:sp>
        <p:nvSpPr>
          <p:cNvPr id="7" name="">
            <a:extLst xmlns:a="http://schemas.openxmlformats.org/drawingml/2006/main">
              <a:ext uri="{FF2B5EF4-FFF2-40B4-BE49-F238E27FC236}">
                <a16:creationId xmlns:a16="http://schemas.microsoft.com/office/drawing/2014/main" id="{72A946C4-FDAE-4772-8C60-60518643DB3B}"/>
              </a:ext>
            </a:extLst>
          </p:cNvPr>
          <p:cNvSpPr>
            <a:spLocks xmlns:a="http://schemas.openxmlformats.org/drawingml/2006/main" noGrp="1"/>
          </p:cNvSpPr>
          <p:nvPr/>
        </p:nvSpPr>
        <p:spPr>
          <a:xfrm xmlns:a="http://schemas.openxmlformats.org/drawingml/2006/main">
            <a:off x="609600" y="268605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46D63"/>
                </a:solidFill>
                <a:latin typeface="Arial"/>
                <a:ea typeface="Arial"/>
                <a:cs typeface="Arial"/>
              </a:defRPr>
            </a:pPr>
            <a:r>
              <a:rPr sz="2850" b="1">
                <a:solidFill>
                  <a:srgbClr val="246D6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9955168-32C4-4B9A-B9C4-05CDAE95C7D2}"/>
              </a:ext>
            </a:extLst>
          </p:cNvPr>
          <p:cNvSpPr>
            <a:spLocks xmlns:a="http://schemas.openxmlformats.org/drawingml/2006/main" noGrp="1"/>
          </p:cNvSpPr>
          <p:nvPr/>
        </p:nvSpPr>
        <p:spPr>
          <a:xfrm xmlns:a="http://schemas.openxmlformats.org/drawingml/2006/main">
            <a:off x="1714500" y="2686050"/>
            <a:ext cx="971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D37"/>
                </a:solidFill>
                <a:latin typeface="Arial"/>
                <a:ea typeface="Arial"/>
                <a:cs typeface="Arial"/>
              </a:defRPr>
            </a:pPr>
            <a:r>
              <a:rPr sz="2250" b="1">
                <a:solidFill>
                  <a:srgbClr val="173D37"/>
                </a:solidFill>
                <a:latin typeface="Arial"/>
                <a:ea typeface="Arial"/>
                <a:cs typeface="Arial"/>
              </a:rPr>
              <a:t>Map ingredients explicitly</a:t>
            </a:r>
          </a:p>
        </p:txBody>
      </p:sp>
      <p:sp>
        <p:nvSpPr>
          <p:cNvPr id="9" name="">
            <a:extLst xmlns:a="http://schemas.openxmlformats.org/drawingml/2006/main">
              <a:ext uri="{FF2B5EF4-FFF2-40B4-BE49-F238E27FC236}">
                <a16:creationId xmlns:a16="http://schemas.microsoft.com/office/drawing/2014/main" id="{1A614795-892A-43BE-A2DD-B941E191DF58}"/>
              </a:ext>
            </a:extLst>
          </p:cNvPr>
          <p:cNvSpPr>
            <a:spLocks xmlns:a="http://schemas.openxmlformats.org/drawingml/2006/main" noGrp="1"/>
          </p:cNvSpPr>
          <p:nvPr/>
        </p:nvSpPr>
        <p:spPr>
          <a:xfrm xmlns:a="http://schemas.openxmlformats.org/drawingml/2006/main">
            <a:off x="1714500" y="31908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D37"/>
                </a:solidFill>
                <a:latin typeface="Arial"/>
                <a:ea typeface="Arial"/>
                <a:cs typeface="Arial"/>
              </a:defRPr>
            </a:pPr>
            <a:r>
              <a:rPr sz="1875" b="0">
                <a:solidFill>
                  <a:srgbClr val="173D37"/>
                </a:solidFill>
                <a:latin typeface="Arial"/>
                <a:ea typeface="Arial"/>
                <a:cs typeface="Arial"/>
              </a:rPr>
              <a:t>Unmapped ingredients stay visible; no guessed equivalence.</a:t>
            </a:r>
          </a:p>
        </p:txBody>
      </p:sp>
      <p:sp>
        <p:nvSpPr>
          <p:cNvPr id="10" name="">
            <a:extLst xmlns:a="http://schemas.openxmlformats.org/drawingml/2006/main">
              <a:ext uri="{FF2B5EF4-FFF2-40B4-BE49-F238E27FC236}">
                <a16:creationId xmlns:a16="http://schemas.microsoft.com/office/drawing/2014/main" id="{58341C6A-C696-4013-AA4C-0729864F87BB}"/>
              </a:ext>
            </a:extLst>
          </p:cNvPr>
          <p:cNvSpPr>
            <a:spLocks xmlns:a="http://schemas.openxmlformats.org/drawingml/2006/main" noGrp="1"/>
          </p:cNvSpPr>
          <p:nvPr/>
        </p:nvSpPr>
        <p:spPr>
          <a:xfrm xmlns:a="http://schemas.openxmlformats.org/drawingml/2006/main">
            <a:off x="609600" y="379095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46D63"/>
                </a:solidFill>
                <a:latin typeface="Arial"/>
                <a:ea typeface="Arial"/>
                <a:cs typeface="Arial"/>
              </a:defRPr>
            </a:pPr>
            <a:r>
              <a:rPr sz="2850" b="1">
                <a:solidFill>
                  <a:srgbClr val="246D63"/>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3EE2A15-877A-4E76-AEC0-0447FE7A1703}"/>
              </a:ext>
            </a:extLst>
          </p:cNvPr>
          <p:cNvSpPr>
            <a:spLocks xmlns:a="http://schemas.openxmlformats.org/drawingml/2006/main" noGrp="1"/>
          </p:cNvSpPr>
          <p:nvPr/>
        </p:nvSpPr>
        <p:spPr>
          <a:xfrm xmlns:a="http://schemas.openxmlformats.org/drawingml/2006/main">
            <a:off x="1714500" y="3790950"/>
            <a:ext cx="971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D37"/>
                </a:solidFill>
                <a:latin typeface="Arial"/>
                <a:ea typeface="Arial"/>
                <a:cs typeface="Arial"/>
              </a:defRPr>
            </a:pPr>
            <a:r>
              <a:rPr sz="2250" b="1">
                <a:solidFill>
                  <a:srgbClr val="173D37"/>
                </a:solidFill>
                <a:latin typeface="Arial"/>
                <a:ea typeface="Arial"/>
                <a:cs typeface="Arial"/>
              </a:rPr>
              <a:t>Check every distinct pair</a:t>
            </a:r>
          </a:p>
        </p:txBody>
      </p:sp>
      <p:sp>
        <p:nvSpPr>
          <p:cNvPr id="12" name="">
            <a:extLst xmlns:a="http://schemas.openxmlformats.org/drawingml/2006/main">
              <a:ext uri="{FF2B5EF4-FFF2-40B4-BE49-F238E27FC236}">
                <a16:creationId xmlns:a16="http://schemas.microsoft.com/office/drawing/2014/main" id="{17A6485B-3172-4965-AD37-FD1CD482307C}"/>
              </a:ext>
            </a:extLst>
          </p:cNvPr>
          <p:cNvSpPr>
            <a:spLocks xmlns:a="http://schemas.openxmlformats.org/drawingml/2006/main" noGrp="1"/>
          </p:cNvSpPr>
          <p:nvPr/>
        </p:nvSpPr>
        <p:spPr>
          <a:xfrm xmlns:a="http://schemas.openxmlformats.org/drawingml/2006/main">
            <a:off x="1714500" y="42957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D37"/>
                </a:solidFill>
                <a:latin typeface="Arial"/>
                <a:ea typeface="Arial"/>
                <a:cs typeface="Arial"/>
              </a:defRPr>
            </a:pPr>
            <a:r>
              <a:rPr sz="1875" b="0">
                <a:solidFill>
                  <a:srgbClr val="173D37"/>
                </a:solidFill>
                <a:latin typeface="Arial"/>
                <a:ea typeface="Arial"/>
                <a:cs typeface="Arial"/>
              </a:rPr>
              <a:t>Up to 12 medicines, 66 pairs. Rules retain their sources.</a:t>
            </a:r>
          </a:p>
        </p:txBody>
      </p:sp>
      <p:sp>
        <p:nvSpPr>
          <p:cNvPr id="13" name="">
            <a:extLst xmlns:a="http://schemas.openxmlformats.org/drawingml/2006/main">
              <a:ext uri="{FF2B5EF4-FFF2-40B4-BE49-F238E27FC236}">
                <a16:creationId xmlns:a16="http://schemas.microsoft.com/office/drawing/2014/main" id="{79BCBBA0-6E30-46E2-96B1-80DCBAC95E77}"/>
              </a:ext>
            </a:extLst>
          </p:cNvPr>
          <p:cNvSpPr>
            <a:spLocks xmlns:a="http://schemas.openxmlformats.org/drawingml/2006/main" noGrp="1"/>
          </p:cNvSpPr>
          <p:nvPr/>
        </p:nvSpPr>
        <p:spPr>
          <a:xfrm xmlns:a="http://schemas.openxmlformats.org/drawingml/2006/main">
            <a:off x="609600" y="489585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46D63"/>
                </a:solidFill>
                <a:latin typeface="Arial"/>
                <a:ea typeface="Arial"/>
                <a:cs typeface="Arial"/>
              </a:defRPr>
            </a:pPr>
            <a:r>
              <a:rPr sz="2850" b="1">
                <a:solidFill>
                  <a:srgbClr val="246D63"/>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5541895A-538D-497F-A270-540AAC26DC6C}"/>
              </a:ext>
            </a:extLst>
          </p:cNvPr>
          <p:cNvSpPr>
            <a:spLocks xmlns:a="http://schemas.openxmlformats.org/drawingml/2006/main" noGrp="1"/>
          </p:cNvSpPr>
          <p:nvPr/>
        </p:nvSpPr>
        <p:spPr>
          <a:xfrm xmlns:a="http://schemas.openxmlformats.org/drawingml/2006/main">
            <a:off x="1714500" y="4895850"/>
            <a:ext cx="971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D37"/>
                </a:solidFill>
                <a:latin typeface="Arial"/>
                <a:ea typeface="Arial"/>
                <a:cs typeface="Arial"/>
              </a:defRPr>
            </a:pPr>
            <a:r>
              <a:rPr sz="2250" b="1">
                <a:solidFill>
                  <a:srgbClr val="173D37"/>
                </a:solidFill>
                <a:latin typeface="Arial"/>
                <a:ea typeface="Arial"/>
                <a:cs typeface="Arial"/>
              </a:rPr>
              <a:t>Show warnings and unresolved items</a:t>
            </a:r>
          </a:p>
        </p:txBody>
      </p:sp>
      <p:sp>
        <p:nvSpPr>
          <p:cNvPr id="15" name="">
            <a:extLst xmlns:a="http://schemas.openxmlformats.org/drawingml/2006/main">
              <a:ext uri="{FF2B5EF4-FFF2-40B4-BE49-F238E27FC236}">
                <a16:creationId xmlns:a16="http://schemas.microsoft.com/office/drawing/2014/main" id="{07450FCA-2FD7-4969-A6EE-0C0D52A36588}"/>
              </a:ext>
            </a:extLst>
          </p:cNvPr>
          <p:cNvSpPr>
            <a:spLocks xmlns:a="http://schemas.openxmlformats.org/drawingml/2006/main" noGrp="1"/>
          </p:cNvSpPr>
          <p:nvPr/>
        </p:nvSpPr>
        <p:spPr>
          <a:xfrm xmlns:a="http://schemas.openxmlformats.org/drawingml/2006/main">
            <a:off x="1714500" y="54006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D37"/>
                </a:solidFill>
                <a:latin typeface="Arial"/>
                <a:ea typeface="Arial"/>
                <a:cs typeface="Arial"/>
              </a:defRPr>
            </a:pPr>
            <a:r>
              <a:rPr sz="1875" b="0">
                <a:solidFill>
                  <a:srgbClr val="173D37"/>
                </a:solidFill>
                <a:latin typeface="Arial"/>
                <a:ea typeface="Arial"/>
                <a:cs typeface="Arial"/>
              </a:rPr>
              <a:t>A missing rule cannot establish that a combination is safe.</a:t>
            </a:r>
          </a:p>
        </p:txBody>
      </p:sp>
      <p:sp>
        <p:nvSpPr>
          <p:cNvPr id="16" name="">
            <a:extLst xmlns:a="http://schemas.openxmlformats.org/drawingml/2006/main">
              <a:ext uri="{FF2B5EF4-FFF2-40B4-BE49-F238E27FC236}">
                <a16:creationId xmlns:a16="http://schemas.microsoft.com/office/drawing/2014/main" id="{DEB0A2FE-77B8-4BE6-8636-DF7B2ADAB37D}"/>
              </a:ext>
            </a:extLst>
          </p:cNvPr>
          <p:cNvSpPr>
            <a:spLocks xmlns:a="http://schemas.openxmlformats.org/drawingml/2006/main" noGrp="1"/>
          </p:cNvSpPr>
          <p:nvPr/>
        </p:nvSpPr>
        <p:spPr>
          <a:xfrm xmlns:a="http://schemas.openxmlformats.org/drawingml/2006/main">
            <a:off x="609600" y="60388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92591D"/>
                </a:solidFill>
                <a:latin typeface="Arial"/>
                <a:ea typeface="Arial"/>
                <a:cs typeface="Arial"/>
              </a:defRPr>
            </a:pPr>
            <a:r>
              <a:rPr sz="1575" b="0">
                <a:solidFill>
                  <a:srgbClr val="92591D"/>
                </a:solidFill>
                <a:latin typeface="Arial"/>
                <a:ea typeface="Arial"/>
                <a:cs typeface="Arial"/>
              </a:rPr>
              <a:t>Personal doses and the combined effect of three or more medicines are outside this check.</a:t>
            </a:r>
          </a:p>
        </p:txBody>
      </p:sp>
    </p:spTree>
    <p:extLst>
      <p:ext uri="{BB962C8B-B14F-4D97-AF65-F5344CB8AC3E}">
        <p14:creationId xmlns:p14="http://schemas.microsoft.com/office/powerpoint/2010/main" val="890328555"/>
      </p:ext>
    </p:extLst>
  </p:cSld>
</p:sld>
</file>

<file path=ppt/slides/slide5.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1C53BE-4E38-40E6-947F-F5D3A182BEB7}"/>
              </a:ext>
            </a:extLst>
          </p:cNvPr>
          <p:cNvSpPr>
            <a:spLocks xmlns:a="http://schemas.openxmlformats.org/drawingml/2006/main" noGrp="1"/>
          </p:cNvSpPr>
          <p:nvPr/>
        </p:nvSpPr>
        <p:spPr>
          <a:xfrm xmlns:a="http://schemas.openxmlformats.org/drawingml/2006/main">
            <a:off x="609600" y="40005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7"/>
                </a:solidFill>
                <a:latin typeface="Arial"/>
                <a:ea typeface="Arial"/>
                <a:cs typeface="Arial"/>
              </a:defRPr>
            </a:pPr>
            <a:r>
              <a:rPr sz="3300" b="1">
                <a:solidFill>
                  <a:srgbClr val="173D37"/>
                </a:solidFill>
                <a:latin typeface="Arial"/>
                <a:ea typeface="Arial"/>
                <a:cs typeface="Arial"/>
              </a:rPr>
              <a:t>A warning with a source</a:t>
            </a:r>
          </a:p>
        </p:txBody>
      </p:sp>
      <p:sp>
        <p:nvSpPr>
          <p:cNvPr id="2" name="">
            <a:extLst xmlns:a="http://schemas.openxmlformats.org/drawingml/2006/main">
              <a:ext uri="{FF2B5EF4-FFF2-40B4-BE49-F238E27FC236}">
                <a16:creationId xmlns:a16="http://schemas.microsoft.com/office/drawing/2014/main" id="{C0E9FA00-9F9F-4037-AE58-207E8FE9BABA}"/>
              </a:ext>
            </a:extLst>
          </p:cNvPr>
          <p:cNvSpPr>
            <a:spLocks xmlns:a="http://schemas.openxmlformats.org/drawingml/2006/main" noGrp="1"/>
          </p:cNvSpPr>
          <p:nvPr/>
        </p:nvSpPr>
        <p:spPr>
          <a:xfrm xmlns:a="http://schemas.openxmlformats.org/drawingml/2006/main">
            <a:off x="609600" y="641985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Med Safe  /  HacKU 2026  /  Prototype · 3 October 2026</a:t>
            </a:r>
          </a:p>
        </p:txBody>
      </p:sp>
      <p:sp>
        <p:nvSpPr>
          <p:cNvPr id="3" name="">
            <a:extLst xmlns:a="http://schemas.openxmlformats.org/drawingml/2006/main">
              <a:ext uri="{FF2B5EF4-FFF2-40B4-BE49-F238E27FC236}">
                <a16:creationId xmlns:a16="http://schemas.microsoft.com/office/drawing/2014/main" id="{E5E69713-FEE6-4228-9893-E1DF6492C897}"/>
              </a:ext>
            </a:extLst>
          </p:cNvPr>
          <p:cNvSpPr>
            <a:spLocks xmlns:a="http://schemas.openxmlformats.org/drawingml/2006/main" noGrp="1"/>
          </p:cNvSpPr>
          <p:nvPr/>
        </p:nvSpPr>
        <p:spPr>
          <a:xfrm xmlns:a="http://schemas.openxmlformats.org/drawingml/2006/main">
            <a:off x="11144250" y="64198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F2DCC869-E63F-4AB6-BDCA-9A01AD1C51C5}"/>
              </a:ext>
            </a:extLst>
          </p:cNvPr>
          <p:cNvSpPr>
            <a:spLocks xmlns:a="http://schemas.openxmlformats.org/drawingml/2006/main" noGrp="1"/>
          </p:cNvSpPr>
          <p:nvPr/>
        </p:nvSpPr>
        <p:spPr>
          <a:xfrm xmlns:a="http://schemas.openxmlformats.org/drawingml/2006/main">
            <a:off x="609600" y="16859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46D63"/>
                </a:solidFill>
                <a:latin typeface="Arial"/>
                <a:ea typeface="Arial"/>
                <a:cs typeface="Arial"/>
              </a:defRPr>
            </a:pPr>
            <a:r>
              <a:rPr sz="2400" b="1">
                <a:solidFill>
                  <a:srgbClr val="246D63"/>
                </a:solidFill>
                <a:latin typeface="Arial"/>
                <a:ea typeface="Arial"/>
                <a:cs typeface="Arial"/>
              </a:rPr>
              <a:t>Two products can</a:t>
            </a:r>
          </a:p>
          <a:p xmlns:a="http://schemas.openxmlformats.org/drawingml/2006/main">
            <a:pPr>
              <a:defRPr sz="2400" b="1">
                <a:solidFill>
                  <a:srgbClr val="246D63"/>
                </a:solidFill>
                <a:latin typeface="Arial"/>
                <a:ea typeface="Arial"/>
                <a:cs typeface="Arial"/>
              </a:defRPr>
            </a:pPr>
            <a:r>
              <a:rPr sz="2400" b="1">
                <a:solidFill>
                  <a:srgbClr val="246D63"/>
                </a:solidFill>
                <a:latin typeface="Arial"/>
                <a:ea typeface="Arial"/>
                <a:cs typeface="Arial"/>
              </a:rPr>
              <a:t>share an ingredient</a:t>
            </a:r>
          </a:p>
        </p:txBody>
      </p:sp>
      <p:sp>
        <p:nvSpPr>
          <p:cNvPr id="5" name="">
            <a:extLst xmlns:a="http://schemas.openxmlformats.org/drawingml/2006/main">
              <a:ext uri="{FF2B5EF4-FFF2-40B4-BE49-F238E27FC236}">
                <a16:creationId xmlns:a16="http://schemas.microsoft.com/office/drawing/2014/main" id="{DBFD56F2-A291-4097-8850-A060D3F4A0B0}"/>
              </a:ext>
            </a:extLst>
          </p:cNvPr>
          <p:cNvSpPr>
            <a:spLocks xmlns:a="http://schemas.openxmlformats.org/drawingml/2006/main" noGrp="1"/>
          </p:cNvSpPr>
          <p:nvPr/>
        </p:nvSpPr>
        <p:spPr>
          <a:xfrm xmlns:a="http://schemas.openxmlformats.org/drawingml/2006/main">
            <a:off x="609600" y="3209925"/>
            <a:ext cx="3333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The warning keeps</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its source and</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review status visible.</a:t>
            </a:r>
          </a:p>
        </p:txBody>
      </p:sp>
      <p:sp>
        <p:nvSpPr>
          <p:cNvPr id="6" name="">
            <a:extLst xmlns:a="http://schemas.openxmlformats.org/drawingml/2006/main">
              <a:ext uri="{FF2B5EF4-FFF2-40B4-BE49-F238E27FC236}">
                <a16:creationId xmlns:a16="http://schemas.microsoft.com/office/drawing/2014/main" id="{F8B38408-9C55-42F0-8660-E1AA07563E71}"/>
              </a:ext>
            </a:extLst>
          </p:cNvPr>
          <p:cNvSpPr>
            <a:spLocks xmlns:a="http://schemas.openxmlformats.org/drawingml/2006/main" noGrp="1"/>
          </p:cNvSpPr>
          <p:nvPr/>
        </p:nvSpPr>
        <p:spPr>
          <a:xfrm xmlns:a="http://schemas.openxmlformats.org/drawingml/2006/main">
            <a:off x="609600" y="52959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62"/>
                </a:solidFill>
                <a:latin typeface="Arial"/>
                <a:ea typeface="Arial"/>
                <a:cs typeface="Arial"/>
              </a:defRPr>
            </a:pPr>
            <a:r>
              <a:rPr sz="1650" b="0">
                <a:solidFill>
                  <a:srgbClr val="526762"/>
                </a:solidFill>
                <a:latin typeface="Arial"/>
                <a:ea typeface="Arial"/>
                <a:cs typeface="Arial"/>
              </a:rPr>
              <a:t>Synthetic labels</a:t>
            </a:r>
          </a:p>
          <a:p xmlns:a="http://schemas.openxmlformats.org/drawingml/2006/main">
            <a:pPr>
              <a:defRPr sz="1650" b="0">
                <a:solidFill>
                  <a:srgbClr val="526762"/>
                </a:solidFill>
                <a:latin typeface="Arial"/>
                <a:ea typeface="Arial"/>
                <a:cs typeface="Arial"/>
              </a:defRPr>
            </a:pPr>
            <a:r>
              <a:rPr sz="1650" b="0">
                <a:solidFill>
                  <a:srgbClr val="526762"/>
                </a:solidFill>
                <a:latin typeface="Arial"/>
                <a:ea typeface="Arial"/>
                <a:cs typeface="Arial"/>
              </a:rPr>
              <a:t>Actual browser output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6290ae9468840e8"/>
          <a:stretch xmlns:a="http://schemas.openxmlformats.org/drawingml/2006/main"/>
        </p:blipFill>
        <p:spPr>
          <a:xfrm xmlns:a="http://schemas.openxmlformats.org/drawingml/2006/main">
            <a:off x="4591431" y="1495425"/>
            <a:ext cx="6761988" cy="4695825"/>
          </a:xfrm>
          <a:prstGeom xmlns:a="http://schemas.openxmlformats.org/drawingml/2006/main" prst="rect">
            <a:avLst/>
          </a:prstGeom>
        </p:spPr>
      </p:pic>
    </p:spTree>
    <p:extLst>
      <p:ext uri="{BB962C8B-B14F-4D97-AF65-F5344CB8AC3E}">
        <p14:creationId xmlns:p14="http://schemas.microsoft.com/office/powerpoint/2010/main" val="691258518"/>
      </p:ext>
    </p:extLst>
  </p:cSld>
</p:sld>
</file>

<file path=ppt/slides/slide6.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B4C041-820E-4F8D-A7E5-67BD1E714F88}"/>
              </a:ext>
            </a:extLst>
          </p:cNvPr>
          <p:cNvSpPr>
            <a:spLocks xmlns:a="http://schemas.openxmlformats.org/drawingml/2006/main" noGrp="1"/>
          </p:cNvSpPr>
          <p:nvPr/>
        </p:nvSpPr>
        <p:spPr>
          <a:xfrm xmlns:a="http://schemas.openxmlformats.org/drawingml/2006/main">
            <a:off x="609600" y="40005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7"/>
                </a:solidFill>
                <a:latin typeface="Arial"/>
                <a:ea typeface="Arial"/>
                <a:cs typeface="Arial"/>
              </a:defRPr>
            </a:pPr>
            <a:r>
              <a:rPr sz="3300" b="1">
                <a:solidFill>
                  <a:srgbClr val="173D37"/>
                </a:solidFill>
                <a:latin typeface="Arial"/>
                <a:ea typeface="Arial"/>
                <a:cs typeface="Arial"/>
              </a:rPr>
              <a:t>Unknowns do not erase a warning</a:t>
            </a:r>
          </a:p>
        </p:txBody>
      </p:sp>
      <p:sp>
        <p:nvSpPr>
          <p:cNvPr id="2" name="">
            <a:extLst xmlns:a="http://schemas.openxmlformats.org/drawingml/2006/main">
              <a:ext uri="{FF2B5EF4-FFF2-40B4-BE49-F238E27FC236}">
                <a16:creationId xmlns:a16="http://schemas.microsoft.com/office/drawing/2014/main" id="{B4102CD6-7019-418C-A5DD-A3B8A04D36AD}"/>
              </a:ext>
            </a:extLst>
          </p:cNvPr>
          <p:cNvSpPr>
            <a:spLocks xmlns:a="http://schemas.openxmlformats.org/drawingml/2006/main" noGrp="1"/>
          </p:cNvSpPr>
          <p:nvPr/>
        </p:nvSpPr>
        <p:spPr>
          <a:xfrm xmlns:a="http://schemas.openxmlformats.org/drawingml/2006/main">
            <a:off x="609600" y="641985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Med Safe  /  HacKU 2026  /  Prototype · 3 October 2026</a:t>
            </a:r>
          </a:p>
        </p:txBody>
      </p:sp>
      <p:sp>
        <p:nvSpPr>
          <p:cNvPr id="3" name="">
            <a:extLst xmlns:a="http://schemas.openxmlformats.org/drawingml/2006/main">
              <a:ext uri="{FF2B5EF4-FFF2-40B4-BE49-F238E27FC236}">
                <a16:creationId xmlns:a16="http://schemas.microsoft.com/office/drawing/2014/main" id="{125FFA05-0CC7-4FC7-9A25-4E5DCCCECA5C}"/>
              </a:ext>
            </a:extLst>
          </p:cNvPr>
          <p:cNvSpPr>
            <a:spLocks xmlns:a="http://schemas.openxmlformats.org/drawingml/2006/main" noGrp="1"/>
          </p:cNvSpPr>
          <p:nvPr/>
        </p:nvSpPr>
        <p:spPr>
          <a:xfrm xmlns:a="http://schemas.openxmlformats.org/drawingml/2006/main">
            <a:off x="11144250" y="64198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9C5C6E3D-EB48-43FE-A69E-8FF52F713007}"/>
              </a:ext>
            </a:extLst>
          </p:cNvPr>
          <p:cNvSpPr>
            <a:spLocks xmlns:a="http://schemas.openxmlformats.org/drawingml/2006/main" noGrp="1"/>
          </p:cNvSpPr>
          <p:nvPr/>
        </p:nvSpPr>
        <p:spPr>
          <a:xfrm xmlns:a="http://schemas.openxmlformats.org/drawingml/2006/main">
            <a:off x="609600" y="16859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46D63"/>
                </a:solidFill>
                <a:latin typeface="Arial"/>
                <a:ea typeface="Arial"/>
                <a:cs typeface="Arial"/>
              </a:defRPr>
            </a:pPr>
            <a:r>
              <a:rPr sz="2400" b="1">
                <a:solidFill>
                  <a:srgbClr val="246D63"/>
                </a:solidFill>
                <a:latin typeface="Arial"/>
                <a:ea typeface="Arial"/>
                <a:cs typeface="Arial"/>
              </a:rPr>
              <a:t>A third medicine</a:t>
            </a:r>
          </a:p>
          <a:p xmlns:a="http://schemas.openxmlformats.org/drawingml/2006/main">
            <a:pPr>
              <a:defRPr sz="2400" b="1">
                <a:solidFill>
                  <a:srgbClr val="246D63"/>
                </a:solidFill>
                <a:latin typeface="Arial"/>
                <a:ea typeface="Arial"/>
                <a:cs typeface="Arial"/>
              </a:defRPr>
            </a:pPr>
            <a:r>
              <a:rPr sz="2400" b="1">
                <a:solidFill>
                  <a:srgbClr val="246D63"/>
                </a:solidFill>
                <a:latin typeface="Arial"/>
                <a:ea typeface="Arial"/>
                <a:cs typeface="Arial"/>
              </a:rPr>
              <a:t>cannot be identified</a:t>
            </a:r>
          </a:p>
        </p:txBody>
      </p:sp>
      <p:sp>
        <p:nvSpPr>
          <p:cNvPr id="5" name="">
            <a:extLst xmlns:a="http://schemas.openxmlformats.org/drawingml/2006/main">
              <a:ext uri="{FF2B5EF4-FFF2-40B4-BE49-F238E27FC236}">
                <a16:creationId xmlns:a16="http://schemas.microsoft.com/office/drawing/2014/main" id="{4996BE3E-059A-4710-B752-FD29CDB07813}"/>
              </a:ext>
            </a:extLst>
          </p:cNvPr>
          <p:cNvSpPr>
            <a:spLocks xmlns:a="http://schemas.openxmlformats.org/drawingml/2006/main" noGrp="1"/>
          </p:cNvSpPr>
          <p:nvPr/>
        </p:nvSpPr>
        <p:spPr>
          <a:xfrm xmlns:a="http://schemas.openxmlformats.org/drawingml/2006/main">
            <a:off x="609600" y="3209925"/>
            <a:ext cx="3333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The check remains</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incomplete. Existing</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warnings stay visible.</a:t>
            </a:r>
          </a:p>
        </p:txBody>
      </p:sp>
      <p:sp>
        <p:nvSpPr>
          <p:cNvPr id="6" name="">
            <a:extLst xmlns:a="http://schemas.openxmlformats.org/drawingml/2006/main">
              <a:ext uri="{FF2B5EF4-FFF2-40B4-BE49-F238E27FC236}">
                <a16:creationId xmlns:a16="http://schemas.microsoft.com/office/drawing/2014/main" id="{D4292AB2-0AEF-485C-ADD1-568523D0FF7F}"/>
              </a:ext>
            </a:extLst>
          </p:cNvPr>
          <p:cNvSpPr>
            <a:spLocks xmlns:a="http://schemas.openxmlformats.org/drawingml/2006/main" noGrp="1"/>
          </p:cNvSpPr>
          <p:nvPr/>
        </p:nvSpPr>
        <p:spPr>
          <a:xfrm xmlns:a="http://schemas.openxmlformats.org/drawingml/2006/main">
            <a:off x="609600" y="529590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62"/>
                </a:solidFill>
                <a:latin typeface="Arial"/>
                <a:ea typeface="Arial"/>
                <a:cs typeface="Arial"/>
              </a:defRPr>
            </a:pPr>
            <a:r>
              <a:rPr sz="1650" b="0">
                <a:solidFill>
                  <a:srgbClr val="526762"/>
                </a:solidFill>
                <a:latin typeface="Arial"/>
                <a:ea typeface="Arial"/>
                <a:cs typeface="Arial"/>
              </a:rPr>
              <a:t>Synthetic scenario</a:t>
            </a:r>
          </a:p>
          <a:p xmlns:a="http://schemas.openxmlformats.org/drawingml/2006/main">
            <a:pPr>
              <a:defRPr sz="1650" b="0">
                <a:solidFill>
                  <a:srgbClr val="526762"/>
                </a:solidFill>
                <a:latin typeface="Arial"/>
                <a:ea typeface="Arial"/>
                <a:cs typeface="Arial"/>
              </a:defRPr>
            </a:pPr>
            <a:r>
              <a:rPr sz="1650" b="0">
                <a:solidFill>
                  <a:srgbClr val="526762"/>
                </a:solidFill>
                <a:latin typeface="Arial"/>
                <a:ea typeface="Arial"/>
                <a:cs typeface="Arial"/>
              </a:rPr>
              <a:t>Professional review pending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0adb694b11a4ed1"/>
          <a:stretch xmlns:a="http://schemas.openxmlformats.org/drawingml/2006/main"/>
        </p:blipFill>
        <p:spPr>
          <a:xfrm xmlns:a="http://schemas.openxmlformats.org/drawingml/2006/main">
            <a:off x="4591431" y="1495425"/>
            <a:ext cx="6761988" cy="4695825"/>
          </a:xfrm>
          <a:prstGeom xmlns:a="http://schemas.openxmlformats.org/drawingml/2006/main" prst="rect">
            <a:avLst/>
          </a:prstGeom>
        </p:spPr>
      </p:pic>
    </p:spTree>
    <p:extLst>
      <p:ext uri="{BB962C8B-B14F-4D97-AF65-F5344CB8AC3E}">
        <p14:creationId xmlns:p14="http://schemas.microsoft.com/office/powerpoint/2010/main" val="1594275717"/>
      </p:ext>
    </p:extLst>
  </p:cSld>
</p:sld>
</file>

<file path=ppt/slides/slide7.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E3ADA2-E8FD-408B-A01E-FF841E4887C6}"/>
              </a:ext>
            </a:extLst>
          </p:cNvPr>
          <p:cNvSpPr>
            <a:spLocks xmlns:a="http://schemas.openxmlformats.org/drawingml/2006/main" noGrp="1"/>
          </p:cNvSpPr>
          <p:nvPr/>
        </p:nvSpPr>
        <p:spPr>
          <a:xfrm xmlns:a="http://schemas.openxmlformats.org/drawingml/2006/main">
            <a:off x="609600" y="40005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7"/>
                </a:solidFill>
                <a:latin typeface="Arial"/>
                <a:ea typeface="Arial"/>
                <a:cs typeface="Arial"/>
              </a:defRPr>
            </a:pPr>
            <a:r>
              <a:rPr sz="3300" b="1">
                <a:solidFill>
                  <a:srgbClr val="173D37"/>
                </a:solidFill>
                <a:latin typeface="Arial"/>
                <a:ea typeface="Arial"/>
                <a:cs typeface="Arial"/>
              </a:rPr>
              <a:t>Phone access and offline boundaries</a:t>
            </a:r>
          </a:p>
        </p:txBody>
      </p:sp>
      <p:sp>
        <p:nvSpPr>
          <p:cNvPr id="2" name="">
            <a:extLst xmlns:a="http://schemas.openxmlformats.org/drawingml/2006/main">
              <a:ext uri="{FF2B5EF4-FFF2-40B4-BE49-F238E27FC236}">
                <a16:creationId xmlns:a16="http://schemas.microsoft.com/office/drawing/2014/main" id="{D95E7214-0FC2-491C-A4D1-CB4C4275098D}"/>
              </a:ext>
            </a:extLst>
          </p:cNvPr>
          <p:cNvSpPr>
            <a:spLocks xmlns:a="http://schemas.openxmlformats.org/drawingml/2006/main" noGrp="1"/>
          </p:cNvSpPr>
          <p:nvPr/>
        </p:nvSpPr>
        <p:spPr>
          <a:xfrm xmlns:a="http://schemas.openxmlformats.org/drawingml/2006/main">
            <a:off x="609600" y="641985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Med Safe  /  HacKU 2026  /  Prototype · 3 October 2026</a:t>
            </a:r>
          </a:p>
        </p:txBody>
      </p:sp>
      <p:sp>
        <p:nvSpPr>
          <p:cNvPr id="3" name="">
            <a:extLst xmlns:a="http://schemas.openxmlformats.org/drawingml/2006/main">
              <a:ext uri="{FF2B5EF4-FFF2-40B4-BE49-F238E27FC236}">
                <a16:creationId xmlns:a16="http://schemas.microsoft.com/office/drawing/2014/main" id="{773FF28A-B76F-4046-953F-23CD200A8826}"/>
              </a:ext>
            </a:extLst>
          </p:cNvPr>
          <p:cNvSpPr>
            <a:spLocks xmlns:a="http://schemas.openxmlformats.org/drawingml/2006/main" noGrp="1"/>
          </p:cNvSpPr>
          <p:nvPr/>
        </p:nvSpPr>
        <p:spPr>
          <a:xfrm xmlns:a="http://schemas.openxmlformats.org/drawingml/2006/main">
            <a:off x="11144250" y="64198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C1B0FD6-72EB-49D0-9E22-88E5C1D06CCC}"/>
              </a:ext>
            </a:extLst>
          </p:cNvPr>
          <p:cNvSpPr>
            <a:spLocks xmlns:a="http://schemas.openxmlformats.org/drawingml/2006/main" noGrp="1"/>
          </p:cNvSpPr>
          <p:nvPr/>
        </p:nvSpPr>
        <p:spPr>
          <a:xfrm xmlns:a="http://schemas.openxmlformats.org/drawingml/2006/main">
            <a:off x="6096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46D63"/>
                </a:solidFill>
                <a:latin typeface="Arial"/>
                <a:ea typeface="Arial"/>
                <a:cs typeface="Arial"/>
              </a:defRPr>
            </a:pPr>
            <a:r>
              <a:rPr sz="2400" b="1">
                <a:solidFill>
                  <a:srgbClr val="246D63"/>
                </a:solidFill>
                <a:latin typeface="Arial"/>
                <a:ea typeface="Arial"/>
                <a:cs typeface="Arial"/>
              </a:rPr>
              <a:t>Phone browser</a:t>
            </a:r>
          </a:p>
        </p:txBody>
      </p:sp>
      <p:sp>
        <p:nvSpPr>
          <p:cNvPr id="5" name="">
            <a:extLst xmlns:a="http://schemas.openxmlformats.org/drawingml/2006/main">
              <a:ext uri="{FF2B5EF4-FFF2-40B4-BE49-F238E27FC236}">
                <a16:creationId xmlns:a16="http://schemas.microsoft.com/office/drawing/2014/main" id="{A4941672-B6C6-4E08-871A-514980097868}"/>
              </a:ext>
            </a:extLst>
          </p:cNvPr>
          <p:cNvSpPr>
            <a:spLocks xmlns:a="http://schemas.openxmlformats.org/drawingml/2006/main" noGrp="1"/>
          </p:cNvSpPr>
          <p:nvPr/>
        </p:nvSpPr>
        <p:spPr>
          <a:xfrm xmlns:a="http://schemas.openxmlformats.org/drawingml/2006/main">
            <a:off x="609600" y="2381250"/>
            <a:ext cx="5143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Photo recognition on the device</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Search, details and rule checks</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Large text and a pharmacist card</a:t>
            </a:r>
          </a:p>
        </p:txBody>
      </p:sp>
      <p:sp>
        <p:nvSpPr>
          <p:cNvPr id="6" name="">
            <a:extLst xmlns:a="http://schemas.openxmlformats.org/drawingml/2006/main">
              <a:ext uri="{FF2B5EF4-FFF2-40B4-BE49-F238E27FC236}">
                <a16:creationId xmlns:a16="http://schemas.microsoft.com/office/drawing/2014/main" id="{D80653FB-A556-41D5-A571-B009A6AA878E}"/>
              </a:ext>
            </a:extLst>
          </p:cNvPr>
          <p:cNvSpPr>
            <a:spLocks xmlns:a="http://schemas.openxmlformats.org/drawingml/2006/main" noGrp="1"/>
          </p:cNvSpPr>
          <p:nvPr/>
        </p:nvSpPr>
        <p:spPr>
          <a:xfrm xmlns:a="http://schemas.openxmlformats.org/drawingml/2006/main">
            <a:off x="6572250" y="16954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46D63"/>
                </a:solidFill>
                <a:latin typeface="Arial"/>
                <a:ea typeface="Arial"/>
                <a:cs typeface="Arial"/>
              </a:defRPr>
            </a:pPr>
            <a:r>
              <a:rPr sz="2400" b="1">
                <a:solidFill>
                  <a:srgbClr val="246D63"/>
                </a:solidFill>
                <a:latin typeface="Arial"/>
                <a:ea typeface="Arial"/>
                <a:cs typeface="Arial"/>
              </a:rPr>
              <a:t>Offline use</a:t>
            </a:r>
          </a:p>
        </p:txBody>
      </p:sp>
      <p:sp>
        <p:nvSpPr>
          <p:cNvPr id="7" name="">
            <a:extLst xmlns:a="http://schemas.openxmlformats.org/drawingml/2006/main">
              <a:ext uri="{FF2B5EF4-FFF2-40B4-BE49-F238E27FC236}">
                <a16:creationId xmlns:a16="http://schemas.microsoft.com/office/drawing/2014/main" id="{1842CD80-633C-42D3-A8D6-CBE211DC0339}"/>
              </a:ext>
            </a:extLst>
          </p:cNvPr>
          <p:cNvSpPr>
            <a:spLocks xmlns:a="http://schemas.openxmlformats.org/drawingml/2006/main" noGrp="1"/>
          </p:cNvSpPr>
          <p:nvPr/>
        </p:nvSpPr>
        <p:spPr>
          <a:xfrm xmlns:a="http://schemas.openxmlformats.org/drawingml/2006/main">
            <a:off x="6572250" y="2381250"/>
            <a:ext cx="4905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Download app assets first.</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Check offline readiness before use.</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Original source links need internet.</a:t>
            </a:r>
          </a:p>
        </p:txBody>
      </p:sp>
      <p:sp>
        <p:nvSpPr>
          <p:cNvPr id="8" name="">
            <a:extLst xmlns:a="http://schemas.openxmlformats.org/drawingml/2006/main">
              <a:ext uri="{FF2B5EF4-FFF2-40B4-BE49-F238E27FC236}">
                <a16:creationId xmlns:a16="http://schemas.microsoft.com/office/drawing/2014/main" id="{11573A16-6772-4C54-BCD5-2F9E31583D61}"/>
              </a:ext>
            </a:extLst>
          </p:cNvPr>
          <p:cNvSpPr>
            <a:spLocks xmlns:a="http://schemas.openxmlformats.org/drawingml/2006/main" noGrp="1"/>
          </p:cNvSpPr>
          <p:nvPr/>
        </p:nvSpPr>
        <p:spPr>
          <a:xfrm xmlns:a="http://schemas.openxmlformats.org/drawingml/2006/main">
            <a:off x="609600" y="4400550"/>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D37"/>
                </a:solidFill>
                <a:latin typeface="Arial"/>
                <a:ea typeface="Arial"/>
                <a:cs typeface="Arial"/>
              </a:defRPr>
            </a:pPr>
            <a:r>
              <a:rPr sz="2400" b="1">
                <a:solidFill>
                  <a:srgbClr val="173D37"/>
                </a:solidFill>
                <a:latin typeface="Arial"/>
                <a:ea typeface="Arial"/>
                <a:cs typeface="Arial"/>
              </a:rPr>
              <a:t>Voice has a separate boundary</a:t>
            </a:r>
          </a:p>
        </p:txBody>
      </p:sp>
      <p:sp>
        <p:nvSpPr>
          <p:cNvPr id="9" name="">
            <a:extLst xmlns:a="http://schemas.openxmlformats.org/drawingml/2006/main">
              <a:ext uri="{FF2B5EF4-FFF2-40B4-BE49-F238E27FC236}">
                <a16:creationId xmlns:a16="http://schemas.microsoft.com/office/drawing/2014/main" id="{8FE9671B-DBAA-4DEE-A28B-0A091F8D18B3}"/>
              </a:ext>
            </a:extLst>
          </p:cNvPr>
          <p:cNvSpPr>
            <a:spLocks xmlns:a="http://schemas.openxmlformats.org/drawingml/2006/main" noGrp="1"/>
          </p:cNvSpPr>
          <p:nvPr/>
        </p:nvSpPr>
        <p:spPr>
          <a:xfrm xmlns:a="http://schemas.openxmlformats.org/drawingml/2006/main">
            <a:off x="609600" y="5124450"/>
            <a:ext cx="10953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Phone recognition may use the browser provider after consent.</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The optional Mac model can transcribe locally. Device voices vary.</a:t>
            </a:r>
          </a:p>
        </p:txBody>
      </p:sp>
    </p:spTree>
    <p:extLst>
      <p:ext uri="{BB962C8B-B14F-4D97-AF65-F5344CB8AC3E}">
        <p14:creationId xmlns:p14="http://schemas.microsoft.com/office/powerpoint/2010/main" val="1424221765"/>
      </p:ext>
    </p:extLst>
  </p:cSld>
</p:sld>
</file>

<file path=ppt/slides/slide8.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9D98B6D-D1E4-4BF3-AAB2-A0DB825F977C}"/>
              </a:ext>
            </a:extLst>
          </p:cNvPr>
          <p:cNvSpPr>
            <a:spLocks xmlns:a="http://schemas.openxmlformats.org/drawingml/2006/main" noGrp="1"/>
          </p:cNvSpPr>
          <p:nvPr/>
        </p:nvSpPr>
        <p:spPr>
          <a:xfrm xmlns:a="http://schemas.openxmlformats.org/drawingml/2006/main">
            <a:off x="609600" y="40005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7"/>
                </a:solidFill>
                <a:latin typeface="Arial"/>
                <a:ea typeface="Arial"/>
                <a:cs typeface="Arial"/>
              </a:defRPr>
            </a:pPr>
            <a:r>
              <a:rPr sz="3300" b="1">
                <a:solidFill>
                  <a:srgbClr val="173D37"/>
                </a:solidFill>
                <a:latin typeface="Arial"/>
                <a:ea typeface="Arial"/>
                <a:cs typeface="Arial"/>
              </a:rPr>
              <a:t>Evidence and the next review</a:t>
            </a:r>
          </a:p>
        </p:txBody>
      </p:sp>
      <p:sp>
        <p:nvSpPr>
          <p:cNvPr id="2" name="">
            <a:extLst xmlns:a="http://schemas.openxmlformats.org/drawingml/2006/main">
              <a:ext uri="{FF2B5EF4-FFF2-40B4-BE49-F238E27FC236}">
                <a16:creationId xmlns:a16="http://schemas.microsoft.com/office/drawing/2014/main" id="{2D9940C3-13DB-410E-A091-49F3DCC15F6C}"/>
              </a:ext>
            </a:extLst>
          </p:cNvPr>
          <p:cNvSpPr>
            <a:spLocks xmlns:a="http://schemas.openxmlformats.org/drawingml/2006/main" noGrp="1"/>
          </p:cNvSpPr>
          <p:nvPr/>
        </p:nvSpPr>
        <p:spPr>
          <a:xfrm xmlns:a="http://schemas.openxmlformats.org/drawingml/2006/main">
            <a:off x="609600" y="641985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Med Safe  /  HacKU 2026  /  Prototype · 3 October 2026</a:t>
            </a:r>
          </a:p>
        </p:txBody>
      </p:sp>
      <p:sp>
        <p:nvSpPr>
          <p:cNvPr id="3" name="">
            <a:extLst xmlns:a="http://schemas.openxmlformats.org/drawingml/2006/main">
              <a:ext uri="{FF2B5EF4-FFF2-40B4-BE49-F238E27FC236}">
                <a16:creationId xmlns:a16="http://schemas.microsoft.com/office/drawing/2014/main" id="{CE3A8432-D776-41D1-9938-30F47235A98E}"/>
              </a:ext>
            </a:extLst>
          </p:cNvPr>
          <p:cNvSpPr>
            <a:spLocks xmlns:a="http://schemas.openxmlformats.org/drawingml/2006/main" noGrp="1"/>
          </p:cNvSpPr>
          <p:nvPr/>
        </p:nvSpPr>
        <p:spPr>
          <a:xfrm xmlns:a="http://schemas.openxmlformats.org/drawingml/2006/main">
            <a:off x="11144250" y="64198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2"/>
                </a:solidFill>
                <a:latin typeface="Arial"/>
                <a:ea typeface="Arial"/>
                <a:cs typeface="Arial"/>
              </a:defRPr>
            </a:pPr>
            <a:r>
              <a:rPr sz="1200" b="0">
                <a:solidFill>
                  <a:srgbClr val="526762"/>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750E4C5A-364E-4061-9637-BF24C5995C28}"/>
              </a:ext>
            </a:extLst>
          </p:cNvPr>
          <p:cNvSpPr>
            <a:spLocks xmlns:a="http://schemas.openxmlformats.org/drawingml/2006/main" noGrp="1"/>
          </p:cNvSpPr>
          <p:nvPr/>
        </p:nvSpPr>
        <p:spPr>
          <a:xfrm xmlns:a="http://schemas.openxmlformats.org/drawingml/2006/main">
            <a:off x="609600" y="1628775"/>
            <a:ext cx="5295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46D63"/>
                </a:solidFill>
                <a:latin typeface="Arial"/>
                <a:ea typeface="Arial"/>
                <a:cs typeface="Arial"/>
              </a:defRPr>
            </a:pPr>
            <a:r>
              <a:rPr sz="2400" b="1">
                <a:solidFill>
                  <a:srgbClr val="246D63"/>
                </a:solidFill>
                <a:latin typeface="Arial"/>
                <a:ea typeface="Arial"/>
                <a:cs typeface="Arial"/>
              </a:rPr>
              <a:t>Demonstrated in software</a:t>
            </a:r>
          </a:p>
        </p:txBody>
      </p:sp>
      <p:sp>
        <p:nvSpPr>
          <p:cNvPr id="5" name="">
            <a:extLst xmlns:a="http://schemas.openxmlformats.org/drawingml/2006/main">
              <a:ext uri="{FF2B5EF4-FFF2-40B4-BE49-F238E27FC236}">
                <a16:creationId xmlns:a16="http://schemas.microsoft.com/office/drawing/2014/main" id="{76F7C8B7-6B69-484A-8B76-4A328C5BDBBE}"/>
              </a:ext>
            </a:extLst>
          </p:cNvPr>
          <p:cNvSpPr>
            <a:spLocks xmlns:a="http://schemas.openxmlformats.org/drawingml/2006/main" noGrp="1"/>
          </p:cNvSpPr>
          <p:nvPr/>
        </p:nvSpPr>
        <p:spPr>
          <a:xfrm xmlns:a="http://schemas.openxmlformats.org/drawingml/2006/main">
            <a:off x="609600" y="2381250"/>
            <a:ext cx="5381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Label OCR with synthetic input</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Confirmation and source gates</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Pair enumeration and unknowns</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Readable mobile layouts</a:t>
            </a:r>
          </a:p>
        </p:txBody>
      </p:sp>
      <p:sp>
        <p:nvSpPr>
          <p:cNvPr id="6" name="">
            <a:extLst xmlns:a="http://schemas.openxmlformats.org/drawingml/2006/main">
              <a:ext uri="{FF2B5EF4-FFF2-40B4-BE49-F238E27FC236}">
                <a16:creationId xmlns:a16="http://schemas.microsoft.com/office/drawing/2014/main" id="{777B9832-CE7D-46E7-929B-72E87A8B6E2E}"/>
              </a:ext>
            </a:extLst>
          </p:cNvPr>
          <p:cNvSpPr>
            <a:spLocks xmlns:a="http://schemas.openxmlformats.org/drawingml/2006/main" noGrp="1"/>
          </p:cNvSpPr>
          <p:nvPr/>
        </p:nvSpPr>
        <p:spPr>
          <a:xfrm xmlns:a="http://schemas.openxmlformats.org/drawingml/2006/main">
            <a:off x="6572250" y="16287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92591D"/>
                </a:solidFill>
                <a:latin typeface="Arial"/>
                <a:ea typeface="Arial"/>
                <a:cs typeface="Arial"/>
              </a:defRPr>
            </a:pPr>
            <a:r>
              <a:rPr sz="2400" b="1">
                <a:solidFill>
                  <a:srgbClr val="92591D"/>
                </a:solidFill>
                <a:latin typeface="Arial"/>
                <a:ea typeface="Arial"/>
                <a:cs typeface="Arial"/>
              </a:rPr>
              <a:t>Evidence still needed</a:t>
            </a:r>
          </a:p>
        </p:txBody>
      </p:sp>
      <p:sp>
        <p:nvSpPr>
          <p:cNvPr id="7" name="">
            <a:extLst xmlns:a="http://schemas.openxmlformats.org/drawingml/2006/main">
              <a:ext uri="{FF2B5EF4-FFF2-40B4-BE49-F238E27FC236}">
                <a16:creationId xmlns:a16="http://schemas.microsoft.com/office/drawing/2014/main" id="{DF9DDF0F-EF21-44BF-A197-C196958E6D48}"/>
              </a:ext>
            </a:extLst>
          </p:cNvPr>
          <p:cNvSpPr>
            <a:spLocks xmlns:a="http://schemas.openxmlformats.org/drawingml/2006/main" noGrp="1"/>
          </p:cNvSpPr>
          <p:nvPr/>
        </p:nvSpPr>
        <p:spPr>
          <a:xfrm xmlns:a="http://schemas.openxmlformats.org/drawingml/2006/main">
            <a:off x="6572250" y="2381250"/>
            <a:ext cx="5048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Real medicine packs and devices</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Professional and Cantonese review</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Timed manual-method comparison</a:t>
            </a:r>
          </a:p>
          <a:p xmlns:a="http://schemas.openxmlformats.org/drawingml/2006/main">
            <a:pPr>
              <a:defRPr sz="2100" b="0">
                <a:solidFill>
                  <a:srgbClr val="173D37"/>
                </a:solidFill>
                <a:latin typeface="Arial"/>
                <a:ea typeface="Arial"/>
                <a:cs typeface="Arial"/>
              </a:defRPr>
            </a:pPr>
            <a:r>
              <a:rPr sz="2100" b="0">
                <a:solidFill>
                  <a:srgbClr val="173D37"/>
                </a:solidFill>
                <a:latin typeface="Arial"/>
                <a:ea typeface="Arial"/>
                <a:cs typeface="Arial"/>
              </a:rPr>
              <a:t>Observed user errors and recovery</a:t>
            </a:r>
          </a:p>
        </p:txBody>
      </p:sp>
      <p:sp>
        <p:nvSpPr>
          <p:cNvPr id="8" name="">
            <a:extLst xmlns:a="http://schemas.openxmlformats.org/drawingml/2006/main">
              <a:ext uri="{FF2B5EF4-FFF2-40B4-BE49-F238E27FC236}">
                <a16:creationId xmlns:a16="http://schemas.microsoft.com/office/drawing/2014/main" id="{1A78D756-FA7B-4499-9DDF-197C6F7D2160}"/>
              </a:ext>
            </a:extLst>
          </p:cNvPr>
          <p:cNvSpPr>
            <a:spLocks xmlns:a="http://schemas.openxmlformats.org/drawingml/2006/main" noGrp="1"/>
          </p:cNvSpPr>
          <p:nvPr/>
        </p:nvSpPr>
        <p:spPr>
          <a:xfrm xmlns:a="http://schemas.openxmlformats.org/drawingml/2006/main">
            <a:off x="609600" y="4981575"/>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D37"/>
                </a:solidFill>
                <a:latin typeface="Arial"/>
                <a:ea typeface="Arial"/>
                <a:cs typeface="Arial"/>
              </a:defRPr>
            </a:pPr>
            <a:r>
              <a:rPr sz="2325" b="1">
                <a:solidFill>
                  <a:srgbClr val="173D37"/>
                </a:solidFill>
                <a:latin typeface="Arial"/>
                <a:ea typeface="Arial"/>
                <a:cs typeface="Arial"/>
              </a:rPr>
              <a:t>Working prototype, with limits available to the reviewer</a:t>
            </a:r>
          </a:p>
        </p:txBody>
      </p:sp>
      <p:sp>
        <p:nvSpPr>
          <p:cNvPr id="9" name="">
            <a:extLst xmlns:a="http://schemas.openxmlformats.org/drawingml/2006/main">
              <a:ext uri="{FF2B5EF4-FFF2-40B4-BE49-F238E27FC236}">
                <a16:creationId xmlns:a16="http://schemas.microsoft.com/office/drawing/2014/main" id="{DEA374D4-1E01-4495-B07A-6E93BFD71479}"/>
              </a:ext>
            </a:extLst>
          </p:cNvPr>
          <p:cNvSpPr>
            <a:spLocks xmlns:a="http://schemas.openxmlformats.org/drawingml/2006/main" noGrp="1"/>
          </p:cNvSpPr>
          <p:nvPr/>
        </p:nvSpPr>
        <p:spPr>
          <a:xfrm xmlns:a="http://schemas.openxmlformats.org/drawingml/2006/main">
            <a:off x="609600" y="56959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46D63"/>
                </a:solidFill>
                <a:latin typeface="Arial"/>
                <a:ea typeface="Arial"/>
                <a:cs typeface="Arial"/>
              </a:defRPr>
            </a:pPr>
            <a:r>
              <a:rPr sz="2175" b="0">
                <a:solidFill>
                  <a:srgbClr val="246D63"/>
                </a:solidFill>
                <a:latin typeface="Arial"/>
                <a:ea typeface="Arial"/>
                <a:cs typeface="Arial"/>
              </a:rPr>
              <a:t>github.com/yc-eagle/med-safe</a:t>
            </a:r>
          </a:p>
        </p:txBody>
      </p:sp>
    </p:spTree>
    <p:extLst>
      <p:ext uri="{BB962C8B-B14F-4D97-AF65-F5344CB8AC3E}">
        <p14:creationId xmlns:p14="http://schemas.microsoft.com/office/powerpoint/2010/main" val="749586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2026-10-03T06:50:39.2000000Z</dcterms:created>
  <dcterms:modified xsi:type="dcterms:W3CDTF">2026-10-03T06:50:39.2000000Z</dcterms:modified>
</coreProperties>
</file>